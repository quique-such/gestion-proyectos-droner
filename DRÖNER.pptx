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Open Sauce" panose="020B0604020202020204" charset="0"/>
      <p:regular r:id="rId16"/>
    </p:embeddedFont>
    <p:embeddedFont>
      <p:font typeface="Open Sauce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66" d="100"/>
          <a:sy n="66" d="100"/>
        </p:scale>
        <p:origin x="1014"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rique Such Andreu" userId="e6520695-b170-4e64-ac48-377fb551e0cf" providerId="ADAL" clId="{751438CD-3921-4357-AABE-153E9598F182}"/>
    <pc:docChg chg="modSld">
      <pc:chgData name="Enrique Such Andreu" userId="e6520695-b170-4e64-ac48-377fb551e0cf" providerId="ADAL" clId="{751438CD-3921-4357-AABE-153E9598F182}" dt="2025-01-08T20:48:51.581" v="8" actId="1076"/>
      <pc:docMkLst>
        <pc:docMk/>
      </pc:docMkLst>
      <pc:sldChg chg="modSp mod">
        <pc:chgData name="Enrique Such Andreu" userId="e6520695-b170-4e64-ac48-377fb551e0cf" providerId="ADAL" clId="{751438CD-3921-4357-AABE-153E9598F182}" dt="2025-01-08T20:48:51.581" v="8" actId="1076"/>
        <pc:sldMkLst>
          <pc:docMk/>
          <pc:sldMk cId="0" sldId="260"/>
        </pc:sldMkLst>
        <pc:spChg chg="mod">
          <ac:chgData name="Enrique Such Andreu" userId="e6520695-b170-4e64-ac48-377fb551e0cf" providerId="ADAL" clId="{751438CD-3921-4357-AABE-153E9598F182}" dt="2025-01-08T20:48:34.435" v="6" actId="1076"/>
          <ac:spMkLst>
            <pc:docMk/>
            <pc:sldMk cId="0" sldId="260"/>
            <ac:spMk id="15" creationId="{00000000-0000-0000-0000-000000000000}"/>
          </ac:spMkLst>
        </pc:spChg>
        <pc:spChg chg="mod">
          <ac:chgData name="Enrique Such Andreu" userId="e6520695-b170-4e64-ac48-377fb551e0cf" providerId="ADAL" clId="{751438CD-3921-4357-AABE-153E9598F182}" dt="2025-01-08T20:48:26.974" v="5" actId="1076"/>
          <ac:spMkLst>
            <pc:docMk/>
            <pc:sldMk cId="0" sldId="260"/>
            <ac:spMk id="18" creationId="{00000000-0000-0000-0000-000000000000}"/>
          </ac:spMkLst>
        </pc:spChg>
        <pc:spChg chg="mod">
          <ac:chgData name="Enrique Such Andreu" userId="e6520695-b170-4e64-ac48-377fb551e0cf" providerId="ADAL" clId="{751438CD-3921-4357-AABE-153E9598F182}" dt="2025-01-08T20:48:51.581" v="8" actId="1076"/>
          <ac:spMkLst>
            <pc:docMk/>
            <pc:sldMk cId="0" sldId="260"/>
            <ac:spMk id="20" creationId="{00000000-0000-0000-0000-000000000000}"/>
          </ac:spMkLst>
        </pc:spChg>
        <pc:spChg chg="mod">
          <ac:chgData name="Enrique Such Andreu" userId="e6520695-b170-4e64-ac48-377fb551e0cf" providerId="ADAL" clId="{751438CD-3921-4357-AABE-153E9598F182}" dt="2025-01-08T20:48:51.581" v="8" actId="1076"/>
          <ac:spMkLst>
            <pc:docMk/>
            <pc:sldMk cId="0" sldId="260"/>
            <ac:spMk id="21" creationId="{00000000-0000-0000-0000-000000000000}"/>
          </ac:spMkLst>
        </pc:spChg>
        <pc:spChg chg="mod">
          <ac:chgData name="Enrique Such Andreu" userId="e6520695-b170-4e64-ac48-377fb551e0cf" providerId="ADAL" clId="{751438CD-3921-4357-AABE-153E9598F182}" dt="2025-01-08T20:48:22.707" v="4" actId="14100"/>
          <ac:spMkLst>
            <pc:docMk/>
            <pc:sldMk cId="0" sldId="260"/>
            <ac:spMk id="27" creationId="{00000000-0000-0000-0000-000000000000}"/>
          </ac:spMkLst>
        </pc:spChg>
        <pc:spChg chg="mod">
          <ac:chgData name="Enrique Such Andreu" userId="e6520695-b170-4e64-ac48-377fb551e0cf" providerId="ADAL" clId="{751438CD-3921-4357-AABE-153E9598F182}" dt="2025-01-08T20:48:51.581" v="8" actId="1076"/>
          <ac:spMkLst>
            <pc:docMk/>
            <pc:sldMk cId="0" sldId="260"/>
            <ac:spMk id="28"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18" Type="http://schemas.openxmlformats.org/officeDocument/2006/relationships/image" Target="../media/image7.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17" Type="http://schemas.openxmlformats.org/officeDocument/2006/relationships/image" Target="../media/image6.png"/><Relationship Id="rId2" Type="http://schemas.openxmlformats.org/officeDocument/2006/relationships/image" Target="../media/image20.jpeg"/><Relationship Id="rId16" Type="http://schemas.openxmlformats.org/officeDocument/2006/relationships/image" Target="../media/image34.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svg"/><Relationship Id="rId19" Type="http://schemas.openxmlformats.org/officeDocument/2006/relationships/image" Target="../media/image35.png"/><Relationship Id="rId4" Type="http://schemas.openxmlformats.org/officeDocument/2006/relationships/image" Target="../media/image22.svg"/><Relationship Id="rId9" Type="http://schemas.openxmlformats.org/officeDocument/2006/relationships/image" Target="../media/image27.png"/><Relationship Id="rId14" Type="http://schemas.openxmlformats.org/officeDocument/2006/relationships/image" Target="../media/image32.svg"/></Relationships>
</file>

<file path=ppt/slides/_rels/slide1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svg"/><Relationship Id="rId7" Type="http://schemas.openxmlformats.org/officeDocument/2006/relationships/image" Target="../media/image44.svg"/><Relationship Id="rId12" Type="http://schemas.openxmlformats.org/officeDocument/2006/relationships/image" Target="../media/image4.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48.svg"/><Relationship Id="rId5" Type="http://schemas.openxmlformats.org/officeDocument/2006/relationships/image" Target="../media/image42.sv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sv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0.svg"/><Relationship Id="rId7" Type="http://schemas.openxmlformats.org/officeDocument/2006/relationships/image" Target="../media/image54.sv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svg"/><Relationship Id="rId4" Type="http://schemas.openxmlformats.org/officeDocument/2006/relationships/image" Target="../media/image51.png"/><Relationship Id="rId9" Type="http://schemas.openxmlformats.org/officeDocument/2006/relationships/image" Target="../media/image15.svg"/></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Freeform 2"/>
          <p:cNvSpPr/>
          <p:nvPr/>
        </p:nvSpPr>
        <p:spPr>
          <a:xfrm>
            <a:off x="15047759" y="3749017"/>
            <a:ext cx="3240241" cy="6504134"/>
          </a:xfrm>
          <a:custGeom>
            <a:avLst/>
            <a:gdLst/>
            <a:ahLst/>
            <a:cxnLst/>
            <a:rect l="l" t="t" r="r" b="b"/>
            <a:pathLst>
              <a:path w="3240241" h="6504134">
                <a:moveTo>
                  <a:pt x="0" y="0"/>
                </a:moveTo>
                <a:lnTo>
                  <a:pt x="3240241" y="0"/>
                </a:lnTo>
                <a:lnTo>
                  <a:pt x="3240241" y="6504133"/>
                </a:lnTo>
                <a:lnTo>
                  <a:pt x="0" y="65041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grpSp>
        <p:nvGrpSpPr>
          <p:cNvPr id="3" name="Group 3"/>
          <p:cNvGrpSpPr/>
          <p:nvPr/>
        </p:nvGrpSpPr>
        <p:grpSpPr>
          <a:xfrm>
            <a:off x="13032403" y="-483891"/>
            <a:ext cx="5255597" cy="11239473"/>
            <a:chOff x="0" y="0"/>
            <a:chExt cx="1384190" cy="2960190"/>
          </a:xfrm>
        </p:grpSpPr>
        <p:sp>
          <p:nvSpPr>
            <p:cNvPr id="4" name="Freeform 4"/>
            <p:cNvSpPr/>
            <p:nvPr/>
          </p:nvSpPr>
          <p:spPr>
            <a:xfrm>
              <a:off x="0" y="0"/>
              <a:ext cx="1384190" cy="2960190"/>
            </a:xfrm>
            <a:custGeom>
              <a:avLst/>
              <a:gdLst/>
              <a:ahLst/>
              <a:cxnLst/>
              <a:rect l="l" t="t" r="r" b="b"/>
              <a:pathLst>
                <a:path w="1384190" h="2960190">
                  <a:moveTo>
                    <a:pt x="0" y="0"/>
                  </a:moveTo>
                  <a:lnTo>
                    <a:pt x="1384190" y="0"/>
                  </a:lnTo>
                  <a:lnTo>
                    <a:pt x="1384190" y="2960190"/>
                  </a:lnTo>
                  <a:lnTo>
                    <a:pt x="0" y="2960190"/>
                  </a:lnTo>
                  <a:close/>
                </a:path>
              </a:pathLst>
            </a:custGeom>
            <a:solidFill>
              <a:srgbClr val="B23D44"/>
            </a:solidFill>
          </p:spPr>
          <p:txBody>
            <a:bodyPr/>
            <a:lstStyle/>
            <a:p>
              <a:endParaRPr lang="es-ES"/>
            </a:p>
          </p:txBody>
        </p:sp>
        <p:sp>
          <p:nvSpPr>
            <p:cNvPr id="5" name="TextBox 5"/>
            <p:cNvSpPr txBox="1"/>
            <p:nvPr/>
          </p:nvSpPr>
          <p:spPr>
            <a:xfrm>
              <a:off x="0" y="-19050"/>
              <a:ext cx="1384190" cy="2979240"/>
            </a:xfrm>
            <a:prstGeom prst="rect">
              <a:avLst/>
            </a:prstGeom>
          </p:spPr>
          <p:txBody>
            <a:bodyPr lIns="50800" tIns="50800" rIns="50800" bIns="50800" rtlCol="0" anchor="ctr"/>
            <a:lstStyle/>
            <a:p>
              <a:pPr algn="ctr">
                <a:lnSpc>
                  <a:spcPts val="2859"/>
                </a:lnSpc>
              </a:pPr>
              <a:endParaRPr/>
            </a:p>
          </p:txBody>
        </p:sp>
      </p:grpSp>
      <p:grpSp>
        <p:nvGrpSpPr>
          <p:cNvPr id="6" name="Group 6"/>
          <p:cNvGrpSpPr/>
          <p:nvPr/>
        </p:nvGrpSpPr>
        <p:grpSpPr>
          <a:xfrm>
            <a:off x="1028700" y="6729539"/>
            <a:ext cx="47625" cy="1896194"/>
            <a:chOff x="0" y="0"/>
            <a:chExt cx="12628" cy="502789"/>
          </a:xfrm>
        </p:grpSpPr>
        <p:sp>
          <p:nvSpPr>
            <p:cNvPr id="7" name="Freeform 7"/>
            <p:cNvSpPr/>
            <p:nvPr/>
          </p:nvSpPr>
          <p:spPr>
            <a:xfrm>
              <a:off x="0" y="0"/>
              <a:ext cx="12628" cy="502789"/>
            </a:xfrm>
            <a:custGeom>
              <a:avLst/>
              <a:gdLst/>
              <a:ahLst/>
              <a:cxnLst/>
              <a:rect l="l" t="t" r="r" b="b"/>
              <a:pathLst>
                <a:path w="12628" h="502789">
                  <a:moveTo>
                    <a:pt x="0" y="0"/>
                  </a:moveTo>
                  <a:lnTo>
                    <a:pt x="12628" y="0"/>
                  </a:lnTo>
                  <a:lnTo>
                    <a:pt x="12628" y="502789"/>
                  </a:lnTo>
                  <a:lnTo>
                    <a:pt x="0" y="502789"/>
                  </a:lnTo>
                  <a:close/>
                </a:path>
              </a:pathLst>
            </a:custGeom>
            <a:solidFill>
              <a:srgbClr val="123D33"/>
            </a:solidFill>
            <a:ln cap="sq">
              <a:noFill/>
              <a:prstDash val="solid"/>
              <a:miter/>
            </a:ln>
          </p:spPr>
          <p:txBody>
            <a:bodyPr/>
            <a:lstStyle/>
            <a:p>
              <a:endParaRPr lang="es-ES"/>
            </a:p>
          </p:txBody>
        </p:sp>
        <p:sp>
          <p:nvSpPr>
            <p:cNvPr id="8" name="TextBox 8"/>
            <p:cNvSpPr txBox="1"/>
            <p:nvPr/>
          </p:nvSpPr>
          <p:spPr>
            <a:xfrm>
              <a:off x="0" y="-19050"/>
              <a:ext cx="12628" cy="521839"/>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9" name="Freeform 9"/>
          <p:cNvSpPr/>
          <p:nvPr/>
        </p:nvSpPr>
        <p:spPr>
          <a:xfrm>
            <a:off x="300288" y="2164261"/>
            <a:ext cx="12486969" cy="3169512"/>
          </a:xfrm>
          <a:custGeom>
            <a:avLst/>
            <a:gdLst/>
            <a:ahLst/>
            <a:cxnLst/>
            <a:rect l="l" t="t" r="r" b="b"/>
            <a:pathLst>
              <a:path w="12486969" h="3169512">
                <a:moveTo>
                  <a:pt x="0" y="0"/>
                </a:moveTo>
                <a:lnTo>
                  <a:pt x="12486969" y="0"/>
                </a:lnTo>
                <a:lnTo>
                  <a:pt x="12486969" y="3169512"/>
                </a:lnTo>
                <a:lnTo>
                  <a:pt x="0" y="3169512"/>
                </a:lnTo>
                <a:lnTo>
                  <a:pt x="0" y="0"/>
                </a:lnTo>
                <a:close/>
              </a:path>
            </a:pathLst>
          </a:custGeom>
          <a:blipFill>
            <a:blip r:embed="rId4"/>
            <a:stretch>
              <a:fillRect t="-75000" b="-120478"/>
            </a:stretch>
          </a:blipFill>
        </p:spPr>
        <p:txBody>
          <a:bodyPr/>
          <a:lstStyle/>
          <a:p>
            <a:endParaRPr lang="es-ES"/>
          </a:p>
        </p:txBody>
      </p:sp>
      <p:sp>
        <p:nvSpPr>
          <p:cNvPr id="10" name="TextBox 10"/>
          <p:cNvSpPr txBox="1"/>
          <p:nvPr/>
        </p:nvSpPr>
        <p:spPr>
          <a:xfrm>
            <a:off x="1325736" y="6941233"/>
            <a:ext cx="10436073" cy="863600"/>
          </a:xfrm>
          <a:prstGeom prst="rect">
            <a:avLst/>
          </a:prstGeom>
        </p:spPr>
        <p:txBody>
          <a:bodyPr lIns="0" tIns="0" rIns="0" bIns="0" rtlCol="0" anchor="t">
            <a:spAutoFit/>
          </a:bodyPr>
          <a:lstStyle/>
          <a:p>
            <a:pPr algn="l">
              <a:lnSpc>
                <a:spcPts val="7000"/>
              </a:lnSpc>
            </a:pPr>
            <a:r>
              <a:rPr lang="en-US" sz="5000" b="1" spc="-100">
                <a:solidFill>
                  <a:srgbClr val="191919"/>
                </a:solidFill>
                <a:latin typeface="Open Sauce Bold"/>
                <a:ea typeface="Open Sauce Bold"/>
                <a:cs typeface="Open Sauce Bold"/>
                <a:sym typeface="Open Sauce Bold"/>
              </a:rPr>
              <a:t>Dirección y Gestión de Proyectos</a:t>
            </a:r>
          </a:p>
        </p:txBody>
      </p:sp>
      <p:sp>
        <p:nvSpPr>
          <p:cNvPr id="11" name="TextBox 11"/>
          <p:cNvSpPr txBox="1"/>
          <p:nvPr/>
        </p:nvSpPr>
        <p:spPr>
          <a:xfrm>
            <a:off x="1198790" y="8012434"/>
            <a:ext cx="9520533" cy="353060"/>
          </a:xfrm>
          <a:prstGeom prst="rect">
            <a:avLst/>
          </a:prstGeom>
        </p:spPr>
        <p:txBody>
          <a:bodyPr lIns="0" tIns="0" rIns="0" bIns="0" rtlCol="0" anchor="t">
            <a:spAutoFit/>
          </a:bodyPr>
          <a:lstStyle/>
          <a:p>
            <a:pPr algn="ctr">
              <a:lnSpc>
                <a:spcPts val="2859"/>
              </a:lnSpc>
              <a:spcBef>
                <a:spcPct val="0"/>
              </a:spcBef>
            </a:pPr>
            <a:r>
              <a:rPr lang="en-US" sz="2199">
                <a:solidFill>
                  <a:srgbClr val="191919"/>
                </a:solidFill>
                <a:latin typeface="Open Sauce"/>
                <a:ea typeface="Open Sauce"/>
                <a:cs typeface="Open Sauce"/>
                <a:sym typeface="Open Sauce"/>
              </a:rPr>
              <a:t>Diego Torregrosa, Nicolás de la Peña, Alberto Lifante y Enrique Such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3028162" y="-2675843"/>
            <a:ext cx="5259838" cy="5657850"/>
            <a:chOff x="0" y="0"/>
            <a:chExt cx="755622" cy="812800"/>
          </a:xfrm>
        </p:grpSpPr>
        <p:sp>
          <p:nvSpPr>
            <p:cNvPr id="3" name="Freeform 3"/>
            <p:cNvSpPr/>
            <p:nvPr/>
          </p:nvSpPr>
          <p:spPr>
            <a:xfrm>
              <a:off x="0" y="0"/>
              <a:ext cx="755622" cy="812800"/>
            </a:xfrm>
            <a:custGeom>
              <a:avLst/>
              <a:gdLst/>
              <a:ahLst/>
              <a:cxnLst/>
              <a:rect l="l" t="t" r="r" b="b"/>
              <a:pathLst>
                <a:path w="755622" h="812800">
                  <a:moveTo>
                    <a:pt x="377811" y="0"/>
                  </a:moveTo>
                  <a:cubicBezTo>
                    <a:pt x="169152" y="0"/>
                    <a:pt x="0" y="181951"/>
                    <a:pt x="0" y="406400"/>
                  </a:cubicBezTo>
                  <a:cubicBezTo>
                    <a:pt x="0" y="630849"/>
                    <a:pt x="169152" y="812800"/>
                    <a:pt x="377811" y="812800"/>
                  </a:cubicBezTo>
                  <a:cubicBezTo>
                    <a:pt x="586470" y="812800"/>
                    <a:pt x="755622" y="630849"/>
                    <a:pt x="755622" y="406400"/>
                  </a:cubicBezTo>
                  <a:cubicBezTo>
                    <a:pt x="755622" y="181951"/>
                    <a:pt x="586470" y="0"/>
                    <a:pt x="377811" y="0"/>
                  </a:cubicBezTo>
                  <a:close/>
                </a:path>
              </a:pathLst>
            </a:custGeom>
            <a:solidFill>
              <a:srgbClr val="B23D44"/>
            </a:solidFill>
            <a:ln cap="sq">
              <a:noFill/>
              <a:prstDash val="solid"/>
              <a:miter/>
            </a:ln>
          </p:spPr>
          <p:txBody>
            <a:bodyPr/>
            <a:lstStyle/>
            <a:p>
              <a:endParaRPr lang="es-ES"/>
            </a:p>
          </p:txBody>
        </p:sp>
        <p:sp>
          <p:nvSpPr>
            <p:cNvPr id="4" name="TextBox 4"/>
            <p:cNvSpPr txBox="1"/>
            <p:nvPr/>
          </p:nvSpPr>
          <p:spPr>
            <a:xfrm>
              <a:off x="70840" y="57150"/>
              <a:ext cx="613943" cy="67945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5" name="TextBox 5"/>
          <p:cNvSpPr txBox="1"/>
          <p:nvPr/>
        </p:nvSpPr>
        <p:spPr>
          <a:xfrm>
            <a:off x="5307092" y="1993772"/>
            <a:ext cx="3630003" cy="1151255"/>
          </a:xfrm>
          <a:prstGeom prst="rect">
            <a:avLst/>
          </a:prstGeom>
        </p:spPr>
        <p:txBody>
          <a:bodyPr lIns="0" tIns="0" rIns="0" bIns="0" rtlCol="0" anchor="t">
            <a:spAutoFit/>
          </a:bodyPr>
          <a:lstStyle/>
          <a:p>
            <a:pPr marL="0" lvl="0" indent="0" algn="l">
              <a:lnSpc>
                <a:spcPts val="9520"/>
              </a:lnSpc>
              <a:spcBef>
                <a:spcPct val="0"/>
              </a:spcBef>
            </a:pPr>
            <a:r>
              <a:rPr lang="en-US" sz="6800" b="1" spc="-136">
                <a:solidFill>
                  <a:srgbClr val="191919"/>
                </a:solidFill>
                <a:latin typeface="Open Sauce Bold"/>
                <a:ea typeface="Open Sauce Bold"/>
                <a:cs typeface="Open Sauce Bold"/>
                <a:sym typeface="Open Sauce Bold"/>
              </a:rPr>
              <a:t>Índice</a:t>
            </a:r>
          </a:p>
        </p:txBody>
      </p:sp>
      <p:sp>
        <p:nvSpPr>
          <p:cNvPr id="6" name="TextBox 6"/>
          <p:cNvSpPr txBox="1"/>
          <p:nvPr/>
        </p:nvSpPr>
        <p:spPr>
          <a:xfrm>
            <a:off x="5128592" y="3689831"/>
            <a:ext cx="5916625" cy="4839208"/>
          </a:xfrm>
          <a:prstGeom prst="rect">
            <a:avLst/>
          </a:prstGeom>
        </p:spPr>
        <p:txBody>
          <a:bodyPr lIns="0" tIns="0" rIns="0" bIns="0" rtlCol="0" anchor="t">
            <a:spAutoFit/>
          </a:bodyPr>
          <a:lstStyle/>
          <a:p>
            <a:pPr marL="561341" lvl="1" indent="-280670" algn="l">
              <a:lnSpc>
                <a:spcPts val="4316"/>
              </a:lnSpc>
              <a:buFont typeface="Arial"/>
              <a:buChar char="•"/>
            </a:pPr>
            <a:r>
              <a:rPr lang="en-US" sz="2600">
                <a:solidFill>
                  <a:srgbClr val="191919"/>
                </a:solidFill>
                <a:latin typeface="Open Sauce"/>
                <a:ea typeface="Open Sauce"/>
                <a:cs typeface="Open Sauce"/>
                <a:sym typeface="Open Sauce"/>
              </a:rPr>
              <a:t>Objetivos del Proyecto</a:t>
            </a:r>
          </a:p>
          <a:p>
            <a:pPr marL="561341" lvl="1" indent="-280670" algn="l">
              <a:lnSpc>
                <a:spcPts val="4316"/>
              </a:lnSpc>
              <a:buFont typeface="Arial"/>
              <a:buChar char="•"/>
            </a:pPr>
            <a:r>
              <a:rPr lang="en-US" sz="2600">
                <a:solidFill>
                  <a:srgbClr val="191919"/>
                </a:solidFill>
                <a:latin typeface="Open Sauce"/>
                <a:ea typeface="Open Sauce"/>
                <a:cs typeface="Open Sauce"/>
                <a:sym typeface="Open Sauce"/>
              </a:rPr>
              <a:t>Equipo de Desarrollo</a:t>
            </a:r>
          </a:p>
          <a:p>
            <a:pPr marL="561341" lvl="1" indent="-280670" algn="l">
              <a:lnSpc>
                <a:spcPts val="4316"/>
              </a:lnSpc>
              <a:buFont typeface="Arial"/>
              <a:buChar char="•"/>
            </a:pPr>
            <a:r>
              <a:rPr lang="en-US" sz="2600">
                <a:solidFill>
                  <a:srgbClr val="191919"/>
                </a:solidFill>
                <a:latin typeface="Open Sauce"/>
                <a:ea typeface="Open Sauce"/>
                <a:cs typeface="Open Sauce"/>
                <a:sym typeface="Open Sauce"/>
              </a:rPr>
              <a:t>Desglose del Trabajo</a:t>
            </a:r>
          </a:p>
          <a:p>
            <a:pPr marL="561341" lvl="1" indent="-280670" algn="l">
              <a:lnSpc>
                <a:spcPts val="4316"/>
              </a:lnSpc>
              <a:buFont typeface="Arial"/>
              <a:buChar char="•"/>
            </a:pPr>
            <a:r>
              <a:rPr lang="en-US" sz="2600">
                <a:solidFill>
                  <a:srgbClr val="191919"/>
                </a:solidFill>
                <a:latin typeface="Open Sauce"/>
                <a:ea typeface="Open Sauce"/>
                <a:cs typeface="Open Sauce"/>
                <a:sym typeface="Open Sauce"/>
              </a:rPr>
              <a:t>Esfuerzo Estimado</a:t>
            </a:r>
          </a:p>
          <a:p>
            <a:pPr marL="561341" lvl="1" indent="-280670" algn="l">
              <a:lnSpc>
                <a:spcPts val="4316"/>
              </a:lnSpc>
              <a:buFont typeface="Arial"/>
              <a:buChar char="•"/>
            </a:pPr>
            <a:r>
              <a:rPr lang="en-US" sz="2600">
                <a:solidFill>
                  <a:srgbClr val="191919"/>
                </a:solidFill>
                <a:latin typeface="Open Sauce"/>
                <a:ea typeface="Open Sauce"/>
                <a:cs typeface="Open Sauce"/>
                <a:sym typeface="Open Sauce"/>
              </a:rPr>
              <a:t>Planificación Temporal</a:t>
            </a:r>
          </a:p>
          <a:p>
            <a:pPr marL="561341" lvl="1" indent="-280670" algn="l">
              <a:lnSpc>
                <a:spcPts val="4316"/>
              </a:lnSpc>
              <a:buFont typeface="Arial"/>
              <a:buChar char="•"/>
            </a:pPr>
            <a:r>
              <a:rPr lang="en-US" sz="2600">
                <a:solidFill>
                  <a:srgbClr val="191919"/>
                </a:solidFill>
                <a:latin typeface="Open Sauce"/>
                <a:ea typeface="Open Sauce"/>
                <a:cs typeface="Open Sauce"/>
                <a:sym typeface="Open Sauce"/>
              </a:rPr>
              <a:t>Carga de Trabajo Prevista</a:t>
            </a:r>
          </a:p>
          <a:p>
            <a:pPr marL="561341" lvl="1" indent="-280670" algn="l">
              <a:lnSpc>
                <a:spcPts val="4316"/>
              </a:lnSpc>
              <a:buFont typeface="Arial"/>
              <a:buChar char="•"/>
            </a:pPr>
            <a:r>
              <a:rPr lang="en-US" sz="2600">
                <a:solidFill>
                  <a:srgbClr val="191919"/>
                </a:solidFill>
                <a:latin typeface="Open Sauce"/>
                <a:ea typeface="Open Sauce"/>
                <a:cs typeface="Open Sauce"/>
                <a:sym typeface="Open Sauce"/>
              </a:rPr>
              <a:t>Visión Económica del Trabajo</a:t>
            </a:r>
          </a:p>
          <a:p>
            <a:pPr marL="561341" lvl="1" indent="-280670" algn="l">
              <a:lnSpc>
                <a:spcPts val="4316"/>
              </a:lnSpc>
              <a:buFont typeface="Arial"/>
              <a:buChar char="•"/>
            </a:pPr>
            <a:r>
              <a:rPr lang="en-US" sz="2600">
                <a:solidFill>
                  <a:srgbClr val="191919"/>
                </a:solidFill>
                <a:latin typeface="Open Sauce"/>
                <a:ea typeface="Open Sauce"/>
                <a:cs typeface="Open Sauce"/>
                <a:sym typeface="Open Sauce"/>
              </a:rPr>
              <a:t>Posibles Riesgos</a:t>
            </a:r>
          </a:p>
          <a:p>
            <a:pPr marL="561341" lvl="1" indent="-280670" algn="l">
              <a:lnSpc>
                <a:spcPts val="4316"/>
              </a:lnSpc>
              <a:buFont typeface="Arial"/>
              <a:buChar char="•"/>
            </a:pPr>
            <a:r>
              <a:rPr lang="en-US" sz="2600">
                <a:solidFill>
                  <a:srgbClr val="191919"/>
                </a:solidFill>
                <a:latin typeface="Open Sauce"/>
                <a:ea typeface="Open Sauce"/>
                <a:cs typeface="Open Sauce"/>
                <a:sym typeface="Open Sauce"/>
              </a:rPr>
              <a:t>Conclusiones</a:t>
            </a:r>
          </a:p>
        </p:txBody>
      </p:sp>
      <p:sp>
        <p:nvSpPr>
          <p:cNvPr id="7" name="TextBox 7"/>
          <p:cNvSpPr txBox="1"/>
          <p:nvPr/>
        </p:nvSpPr>
        <p:spPr>
          <a:xfrm>
            <a:off x="11045217" y="3689831"/>
            <a:ext cx="720658" cy="4839208"/>
          </a:xfrm>
          <a:prstGeom prst="rect">
            <a:avLst/>
          </a:prstGeom>
        </p:spPr>
        <p:txBody>
          <a:bodyPr lIns="0" tIns="0" rIns="0" bIns="0" rtlCol="0" anchor="t">
            <a:spAutoFit/>
          </a:bodyPr>
          <a:lstStyle/>
          <a:p>
            <a:pPr algn="just">
              <a:lnSpc>
                <a:spcPts val="4316"/>
              </a:lnSpc>
            </a:pPr>
            <a:r>
              <a:rPr lang="en-US" sz="2600">
                <a:solidFill>
                  <a:srgbClr val="191919"/>
                </a:solidFill>
                <a:latin typeface="Open Sauce"/>
                <a:ea typeface="Open Sauce"/>
                <a:cs typeface="Open Sauce"/>
                <a:sym typeface="Open Sauce"/>
              </a:rPr>
              <a:t>01</a:t>
            </a:r>
          </a:p>
          <a:p>
            <a:pPr algn="just">
              <a:lnSpc>
                <a:spcPts val="4316"/>
              </a:lnSpc>
            </a:pPr>
            <a:r>
              <a:rPr lang="en-US" sz="2600">
                <a:solidFill>
                  <a:srgbClr val="191919"/>
                </a:solidFill>
                <a:latin typeface="Open Sauce"/>
                <a:ea typeface="Open Sauce"/>
                <a:cs typeface="Open Sauce"/>
                <a:sym typeface="Open Sauce"/>
              </a:rPr>
              <a:t>03</a:t>
            </a:r>
          </a:p>
          <a:p>
            <a:pPr algn="just">
              <a:lnSpc>
                <a:spcPts val="4316"/>
              </a:lnSpc>
            </a:pPr>
            <a:r>
              <a:rPr lang="en-US" sz="2600">
                <a:solidFill>
                  <a:srgbClr val="191919"/>
                </a:solidFill>
                <a:latin typeface="Open Sauce"/>
                <a:ea typeface="Open Sauce"/>
                <a:cs typeface="Open Sauce"/>
                <a:sym typeface="Open Sauce"/>
              </a:rPr>
              <a:t>04</a:t>
            </a:r>
          </a:p>
          <a:p>
            <a:pPr algn="just">
              <a:lnSpc>
                <a:spcPts val="4316"/>
              </a:lnSpc>
            </a:pPr>
            <a:r>
              <a:rPr lang="en-US" sz="2600">
                <a:solidFill>
                  <a:srgbClr val="191919"/>
                </a:solidFill>
                <a:latin typeface="Open Sauce"/>
                <a:ea typeface="Open Sauce"/>
                <a:cs typeface="Open Sauce"/>
                <a:sym typeface="Open Sauce"/>
              </a:rPr>
              <a:t>05</a:t>
            </a:r>
          </a:p>
          <a:p>
            <a:pPr algn="just">
              <a:lnSpc>
                <a:spcPts val="4316"/>
              </a:lnSpc>
            </a:pPr>
            <a:r>
              <a:rPr lang="en-US" sz="2600">
                <a:solidFill>
                  <a:srgbClr val="191919"/>
                </a:solidFill>
                <a:latin typeface="Open Sauce"/>
                <a:ea typeface="Open Sauce"/>
                <a:cs typeface="Open Sauce"/>
                <a:sym typeface="Open Sauce"/>
              </a:rPr>
              <a:t>07</a:t>
            </a:r>
          </a:p>
          <a:p>
            <a:pPr algn="just">
              <a:lnSpc>
                <a:spcPts val="4316"/>
              </a:lnSpc>
            </a:pPr>
            <a:r>
              <a:rPr lang="en-US" sz="2600">
                <a:solidFill>
                  <a:srgbClr val="191919"/>
                </a:solidFill>
                <a:latin typeface="Open Sauce"/>
                <a:ea typeface="Open Sauce"/>
                <a:cs typeface="Open Sauce"/>
                <a:sym typeface="Open Sauce"/>
              </a:rPr>
              <a:t>08</a:t>
            </a:r>
          </a:p>
          <a:p>
            <a:pPr algn="just">
              <a:lnSpc>
                <a:spcPts val="4316"/>
              </a:lnSpc>
            </a:pPr>
            <a:r>
              <a:rPr lang="en-US" sz="2600">
                <a:solidFill>
                  <a:srgbClr val="191919"/>
                </a:solidFill>
                <a:latin typeface="Open Sauce"/>
                <a:ea typeface="Open Sauce"/>
                <a:cs typeface="Open Sauce"/>
                <a:sym typeface="Open Sauce"/>
              </a:rPr>
              <a:t>09</a:t>
            </a:r>
          </a:p>
          <a:p>
            <a:pPr algn="just">
              <a:lnSpc>
                <a:spcPts val="4316"/>
              </a:lnSpc>
            </a:pPr>
            <a:r>
              <a:rPr lang="en-US" sz="2600">
                <a:solidFill>
                  <a:srgbClr val="191919"/>
                </a:solidFill>
                <a:latin typeface="Open Sauce"/>
                <a:ea typeface="Open Sauce"/>
                <a:cs typeface="Open Sauce"/>
                <a:sym typeface="Open Sauce"/>
              </a:rPr>
              <a:t>10</a:t>
            </a:r>
          </a:p>
          <a:p>
            <a:pPr algn="just">
              <a:lnSpc>
                <a:spcPts val="4316"/>
              </a:lnSpc>
            </a:pPr>
            <a:r>
              <a:rPr lang="en-US" sz="2600">
                <a:solidFill>
                  <a:srgbClr val="191919"/>
                </a:solidFill>
                <a:latin typeface="Open Sauce"/>
                <a:ea typeface="Open Sauce"/>
                <a:cs typeface="Open Sauce"/>
                <a:sym typeface="Open Sauce"/>
              </a:rPr>
              <a:t>11</a:t>
            </a:r>
          </a:p>
        </p:txBody>
      </p:sp>
      <p:grpSp>
        <p:nvGrpSpPr>
          <p:cNvPr id="8" name="Group 8"/>
          <p:cNvGrpSpPr/>
          <p:nvPr/>
        </p:nvGrpSpPr>
        <p:grpSpPr>
          <a:xfrm>
            <a:off x="-1390959" y="7947840"/>
            <a:ext cx="3706081" cy="370608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23D44"/>
            </a:solidFill>
            <a:ln cap="sq">
              <a:noFill/>
              <a:prstDash val="solid"/>
              <a:miter/>
            </a:ln>
          </p:spPr>
          <p:txBody>
            <a:bodyPr/>
            <a:lstStyle/>
            <a:p>
              <a:endParaRPr lang="es-ES"/>
            </a:p>
          </p:txBody>
        </p:sp>
        <p:sp>
          <p:nvSpPr>
            <p:cNvPr id="10" name="TextBox 10"/>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1" name="Group 11"/>
          <p:cNvGrpSpPr/>
          <p:nvPr/>
        </p:nvGrpSpPr>
        <p:grpSpPr>
          <a:xfrm>
            <a:off x="13954718" y="3467162"/>
            <a:ext cx="654889" cy="6548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23D44"/>
            </a:solidFill>
            <a:ln cap="sq">
              <a:noFill/>
              <a:prstDash val="solid"/>
              <a:miter/>
            </a:ln>
          </p:spPr>
          <p:txBody>
            <a:bodyPr/>
            <a:lstStyle/>
            <a:p>
              <a:endParaRPr lang="es-ES"/>
            </a:p>
          </p:txBody>
        </p:sp>
        <p:sp>
          <p:nvSpPr>
            <p:cNvPr id="13" name="TextBox 13"/>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Freeform 2"/>
          <p:cNvSpPr/>
          <p:nvPr/>
        </p:nvSpPr>
        <p:spPr>
          <a:xfrm rot="-10800000">
            <a:off x="2778327" y="7417124"/>
            <a:ext cx="12710840" cy="1184047"/>
          </a:xfrm>
          <a:custGeom>
            <a:avLst/>
            <a:gdLst/>
            <a:ahLst/>
            <a:cxnLst/>
            <a:rect l="l" t="t" r="r" b="b"/>
            <a:pathLst>
              <a:path w="12710840" h="1184047">
                <a:moveTo>
                  <a:pt x="0" y="0"/>
                </a:moveTo>
                <a:lnTo>
                  <a:pt x="12710840" y="0"/>
                </a:lnTo>
                <a:lnTo>
                  <a:pt x="12710840" y="1184046"/>
                </a:lnTo>
                <a:lnTo>
                  <a:pt x="0" y="1184046"/>
                </a:lnTo>
                <a:lnTo>
                  <a:pt x="0" y="0"/>
                </a:lnTo>
                <a:close/>
              </a:path>
            </a:pathLst>
          </a:custGeom>
          <a:blipFill>
            <a:blip r:embed="rId2">
              <a:alphaModFix amt="72000"/>
            </a:blip>
            <a:stretch>
              <a:fillRect b="-208633"/>
            </a:stretch>
          </a:blipFill>
        </p:spPr>
        <p:txBody>
          <a:bodyPr/>
          <a:lstStyle/>
          <a:p>
            <a:endParaRPr lang="es-ES"/>
          </a:p>
        </p:txBody>
      </p:sp>
      <p:grpSp>
        <p:nvGrpSpPr>
          <p:cNvPr id="3" name="Group 3"/>
          <p:cNvGrpSpPr/>
          <p:nvPr/>
        </p:nvGrpSpPr>
        <p:grpSpPr>
          <a:xfrm>
            <a:off x="0" y="0"/>
            <a:ext cx="18288000" cy="4491629"/>
            <a:chOff x="0" y="0"/>
            <a:chExt cx="4816593" cy="1182980"/>
          </a:xfrm>
        </p:grpSpPr>
        <p:sp>
          <p:nvSpPr>
            <p:cNvPr id="4" name="Freeform 4"/>
            <p:cNvSpPr/>
            <p:nvPr/>
          </p:nvSpPr>
          <p:spPr>
            <a:xfrm>
              <a:off x="0" y="0"/>
              <a:ext cx="4816592" cy="1182980"/>
            </a:xfrm>
            <a:custGeom>
              <a:avLst/>
              <a:gdLst/>
              <a:ahLst/>
              <a:cxnLst/>
              <a:rect l="l" t="t" r="r" b="b"/>
              <a:pathLst>
                <a:path w="4816592" h="1182980">
                  <a:moveTo>
                    <a:pt x="0" y="0"/>
                  </a:moveTo>
                  <a:lnTo>
                    <a:pt x="4816592" y="0"/>
                  </a:lnTo>
                  <a:lnTo>
                    <a:pt x="4816592" y="1182980"/>
                  </a:lnTo>
                  <a:lnTo>
                    <a:pt x="0" y="1182980"/>
                  </a:lnTo>
                  <a:close/>
                </a:path>
              </a:pathLst>
            </a:custGeom>
            <a:solidFill>
              <a:srgbClr val="106861"/>
            </a:solidFill>
            <a:ln cap="sq">
              <a:noFill/>
              <a:prstDash val="solid"/>
              <a:miter/>
            </a:ln>
          </p:spPr>
          <p:txBody>
            <a:bodyPr/>
            <a:lstStyle/>
            <a:p>
              <a:endParaRPr lang="es-ES"/>
            </a:p>
          </p:txBody>
        </p:sp>
        <p:sp>
          <p:nvSpPr>
            <p:cNvPr id="5" name="TextBox 5"/>
            <p:cNvSpPr txBox="1"/>
            <p:nvPr/>
          </p:nvSpPr>
          <p:spPr>
            <a:xfrm>
              <a:off x="0" y="-19050"/>
              <a:ext cx="4816593" cy="120203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6" name="Freeform 6"/>
          <p:cNvSpPr/>
          <p:nvPr/>
        </p:nvSpPr>
        <p:spPr>
          <a:xfrm>
            <a:off x="18848" y="15308"/>
            <a:ext cx="18269152" cy="4469985"/>
          </a:xfrm>
          <a:custGeom>
            <a:avLst/>
            <a:gdLst/>
            <a:ahLst/>
            <a:cxnLst/>
            <a:rect l="l" t="t" r="r" b="b"/>
            <a:pathLst>
              <a:path w="18269152" h="4469985">
                <a:moveTo>
                  <a:pt x="0" y="0"/>
                </a:moveTo>
                <a:lnTo>
                  <a:pt x="18269152" y="0"/>
                </a:lnTo>
                <a:lnTo>
                  <a:pt x="18269152" y="4469986"/>
                </a:lnTo>
                <a:lnTo>
                  <a:pt x="0" y="4469986"/>
                </a:lnTo>
                <a:lnTo>
                  <a:pt x="0" y="0"/>
                </a:lnTo>
                <a:close/>
              </a:path>
            </a:pathLst>
          </a:custGeom>
          <a:blipFill>
            <a:blip r:embed="rId3"/>
            <a:stretch>
              <a:fillRect b="-128365"/>
            </a:stretch>
          </a:blipFill>
        </p:spPr>
        <p:txBody>
          <a:bodyPr/>
          <a:lstStyle/>
          <a:p>
            <a:endParaRPr lang="es-ES"/>
          </a:p>
        </p:txBody>
      </p:sp>
      <p:grpSp>
        <p:nvGrpSpPr>
          <p:cNvPr id="7" name="Group 7"/>
          <p:cNvGrpSpPr/>
          <p:nvPr/>
        </p:nvGrpSpPr>
        <p:grpSpPr>
          <a:xfrm>
            <a:off x="2916761" y="2245814"/>
            <a:ext cx="12731346" cy="5171309"/>
            <a:chOff x="0" y="0"/>
            <a:chExt cx="3353112" cy="1361991"/>
          </a:xfrm>
        </p:grpSpPr>
        <p:sp>
          <p:nvSpPr>
            <p:cNvPr id="8" name="Freeform 8"/>
            <p:cNvSpPr/>
            <p:nvPr/>
          </p:nvSpPr>
          <p:spPr>
            <a:xfrm>
              <a:off x="0" y="0"/>
              <a:ext cx="3353112" cy="1361991"/>
            </a:xfrm>
            <a:custGeom>
              <a:avLst/>
              <a:gdLst/>
              <a:ahLst/>
              <a:cxnLst/>
              <a:rect l="l" t="t" r="r" b="b"/>
              <a:pathLst>
                <a:path w="3353112" h="1361991">
                  <a:moveTo>
                    <a:pt x="15202" y="0"/>
                  </a:moveTo>
                  <a:lnTo>
                    <a:pt x="3337909" y="0"/>
                  </a:lnTo>
                  <a:cubicBezTo>
                    <a:pt x="3341941" y="0"/>
                    <a:pt x="3345808" y="1602"/>
                    <a:pt x="3348659" y="4453"/>
                  </a:cubicBezTo>
                  <a:cubicBezTo>
                    <a:pt x="3351510" y="7304"/>
                    <a:pt x="3353112" y="11171"/>
                    <a:pt x="3353112" y="15202"/>
                  </a:cubicBezTo>
                  <a:lnTo>
                    <a:pt x="3353112" y="1346788"/>
                  </a:lnTo>
                  <a:cubicBezTo>
                    <a:pt x="3353112" y="1350820"/>
                    <a:pt x="3351510" y="1354687"/>
                    <a:pt x="3348659" y="1357538"/>
                  </a:cubicBezTo>
                  <a:cubicBezTo>
                    <a:pt x="3345808" y="1360389"/>
                    <a:pt x="3341941" y="1361991"/>
                    <a:pt x="3337909" y="1361991"/>
                  </a:cubicBezTo>
                  <a:lnTo>
                    <a:pt x="15202" y="1361991"/>
                  </a:lnTo>
                  <a:cubicBezTo>
                    <a:pt x="11171" y="1361991"/>
                    <a:pt x="7304" y="1360389"/>
                    <a:pt x="4453" y="1357538"/>
                  </a:cubicBezTo>
                  <a:cubicBezTo>
                    <a:pt x="1602" y="1354687"/>
                    <a:pt x="0" y="1350820"/>
                    <a:pt x="0" y="1346788"/>
                  </a:cubicBezTo>
                  <a:lnTo>
                    <a:pt x="0" y="15202"/>
                  </a:lnTo>
                  <a:cubicBezTo>
                    <a:pt x="0" y="11171"/>
                    <a:pt x="1602" y="7304"/>
                    <a:pt x="4453" y="4453"/>
                  </a:cubicBezTo>
                  <a:cubicBezTo>
                    <a:pt x="7304" y="1602"/>
                    <a:pt x="11171" y="0"/>
                    <a:pt x="15202" y="0"/>
                  </a:cubicBezTo>
                  <a:close/>
                </a:path>
              </a:pathLst>
            </a:custGeom>
            <a:solidFill>
              <a:srgbClr val="B23D44"/>
            </a:solidFill>
            <a:ln cap="rnd">
              <a:noFill/>
              <a:prstDash val="solid"/>
              <a:round/>
            </a:ln>
          </p:spPr>
          <p:txBody>
            <a:bodyPr/>
            <a:lstStyle/>
            <a:p>
              <a:endParaRPr lang="es-ES"/>
            </a:p>
          </p:txBody>
        </p:sp>
        <p:sp>
          <p:nvSpPr>
            <p:cNvPr id="9" name="TextBox 9"/>
            <p:cNvSpPr txBox="1"/>
            <p:nvPr/>
          </p:nvSpPr>
          <p:spPr>
            <a:xfrm>
              <a:off x="0" y="-28575"/>
              <a:ext cx="3353112" cy="1390566"/>
            </a:xfrm>
            <a:prstGeom prst="rect">
              <a:avLst/>
            </a:prstGeom>
          </p:spPr>
          <p:txBody>
            <a:bodyPr lIns="50800" tIns="50800" rIns="50800" bIns="50800" rtlCol="0" anchor="ctr"/>
            <a:lstStyle/>
            <a:p>
              <a:pPr algn="ctr">
                <a:lnSpc>
                  <a:spcPts val="3249"/>
                </a:lnSpc>
              </a:pPr>
              <a:endParaRPr/>
            </a:p>
            <a:p>
              <a:pPr algn="ctr">
                <a:lnSpc>
                  <a:spcPts val="3249"/>
                </a:lnSpc>
              </a:pPr>
              <a:endParaRPr/>
            </a:p>
            <a:p>
              <a:pPr marL="0" lvl="0" indent="0" algn="ctr">
                <a:lnSpc>
                  <a:spcPts val="3249"/>
                </a:lnSpc>
                <a:spcBef>
                  <a:spcPct val="0"/>
                </a:spcBef>
              </a:pPr>
              <a:r>
                <a:rPr lang="en-US" sz="2499">
                  <a:solidFill>
                    <a:srgbClr val="FFFFFF"/>
                  </a:solidFill>
                  <a:latin typeface="Open Sauce"/>
                  <a:ea typeface="Open Sauce"/>
                  <a:cs typeface="Open Sauce"/>
                  <a:sym typeface="Open Sauce"/>
                </a:rPr>
                <a:t>El nombre de nuestro proyecto, DRÖNER, es una fusión ingeniosa de dos conceptos clave que definen nuestra propuesta. Por un lado, está 'drones', la tecnología central que utilizamos para nuestras entregas. Por otro lado, hemos tomado la palabra 'döner', un plato que simboliza la comida rápida y asequible. Esta combinación representa nuestro objetivo de unir tecnología con la simplicidad y conveniencia de las entregas de alimentos.</a:t>
              </a:r>
            </a:p>
          </p:txBody>
        </p:sp>
      </p:grpSp>
      <p:grpSp>
        <p:nvGrpSpPr>
          <p:cNvPr id="10" name="Group 10"/>
          <p:cNvGrpSpPr/>
          <p:nvPr/>
        </p:nvGrpSpPr>
        <p:grpSpPr>
          <a:xfrm>
            <a:off x="16113923" y="9258300"/>
            <a:ext cx="327444" cy="32744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a:ln cap="sq">
              <a:noFill/>
              <a:prstDash val="solid"/>
              <a:miter/>
            </a:ln>
          </p:spPr>
          <p:txBody>
            <a:bodyPr/>
            <a:lstStyle/>
            <a:p>
              <a:endParaRPr lang="es-ES"/>
            </a:p>
          </p:txBody>
        </p:sp>
        <p:sp>
          <p:nvSpPr>
            <p:cNvPr id="12" name="TextBox 12"/>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3" name="Group 13"/>
          <p:cNvGrpSpPr/>
          <p:nvPr/>
        </p:nvGrpSpPr>
        <p:grpSpPr>
          <a:xfrm>
            <a:off x="15648108" y="9258300"/>
            <a:ext cx="327444" cy="32744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3939"/>
            </a:solidFill>
            <a:ln cap="sq">
              <a:noFill/>
              <a:prstDash val="solid"/>
              <a:miter/>
            </a:ln>
          </p:spPr>
          <p:txBody>
            <a:bodyPr/>
            <a:lstStyle/>
            <a:p>
              <a:endParaRPr lang="es-ES"/>
            </a:p>
          </p:txBody>
        </p:sp>
        <p:sp>
          <p:nvSpPr>
            <p:cNvPr id="15" name="TextBox 15"/>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6" name="Group 16"/>
          <p:cNvGrpSpPr/>
          <p:nvPr/>
        </p:nvGrpSpPr>
        <p:grpSpPr>
          <a:xfrm>
            <a:off x="15161723" y="9258300"/>
            <a:ext cx="327444" cy="327444"/>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23D44"/>
            </a:solidFill>
            <a:ln cap="sq">
              <a:noFill/>
              <a:prstDash val="solid"/>
              <a:miter/>
            </a:ln>
          </p:spPr>
          <p:txBody>
            <a:bodyPr/>
            <a:lstStyle/>
            <a:p>
              <a:endParaRPr lang="es-ES"/>
            </a:p>
          </p:txBody>
        </p:sp>
        <p:sp>
          <p:nvSpPr>
            <p:cNvPr id="18" name="TextBox 18"/>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19" name="TextBox 19"/>
          <p:cNvSpPr txBox="1"/>
          <p:nvPr/>
        </p:nvSpPr>
        <p:spPr>
          <a:xfrm>
            <a:off x="5669478" y="2404079"/>
            <a:ext cx="6928538" cy="1151255"/>
          </a:xfrm>
          <a:prstGeom prst="rect">
            <a:avLst/>
          </a:prstGeom>
        </p:spPr>
        <p:txBody>
          <a:bodyPr lIns="0" tIns="0" rIns="0" bIns="0" rtlCol="0" anchor="t">
            <a:spAutoFit/>
          </a:bodyPr>
          <a:lstStyle/>
          <a:p>
            <a:pPr marL="0" lvl="0" indent="0" algn="ctr">
              <a:lnSpc>
                <a:spcPts val="9520"/>
              </a:lnSpc>
              <a:spcBef>
                <a:spcPct val="0"/>
              </a:spcBef>
            </a:pPr>
            <a:r>
              <a:rPr lang="en-US" sz="6800" b="1" spc="-136" dirty="0" err="1">
                <a:solidFill>
                  <a:srgbClr val="FDFBFB"/>
                </a:solidFill>
                <a:latin typeface="Open Sauce Bold"/>
                <a:ea typeface="Open Sauce Bold"/>
                <a:cs typeface="Open Sauce Bold"/>
                <a:sym typeface="Open Sauce Bold"/>
              </a:rPr>
              <a:t>Objetivos</a:t>
            </a:r>
            <a:endParaRPr lang="en-US" sz="6800" b="1" spc="-136" dirty="0">
              <a:solidFill>
                <a:srgbClr val="FDFBFB"/>
              </a:solidFill>
              <a:latin typeface="Open Sauce Bold"/>
              <a:ea typeface="Open Sauce Bold"/>
              <a:cs typeface="Open Sauce Bold"/>
              <a:sym typeface="Open Sauce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71485" y="8388753"/>
            <a:ext cx="3356644" cy="335664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23D44"/>
            </a:solidFill>
            <a:ln w="742950" cap="sq">
              <a:solidFill>
                <a:srgbClr val="B23D44"/>
              </a:solidFill>
              <a:prstDash val="solid"/>
              <a:miter/>
            </a:ln>
          </p:spPr>
          <p:txBody>
            <a:bodyPr/>
            <a:lstStyle/>
            <a:p>
              <a:endParaRPr lang="es-ES"/>
            </a:p>
          </p:txBody>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8" name="Group 8"/>
          <p:cNvGrpSpPr/>
          <p:nvPr/>
        </p:nvGrpSpPr>
        <p:grpSpPr>
          <a:xfrm>
            <a:off x="15178163" y="-2533783"/>
            <a:ext cx="5002094" cy="500209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32941"/>
              </a:srgbClr>
            </a:solidFill>
            <a:ln w="742950" cap="sq">
              <a:solidFill>
                <a:srgbClr val="FF3131">
                  <a:alpha val="32941"/>
                </a:srgbClr>
              </a:solidFill>
              <a:prstDash val="solid"/>
              <a:miter/>
            </a:ln>
          </p:spPr>
          <p:txBody>
            <a:bodyPr/>
            <a:lstStyle/>
            <a:p>
              <a:endParaRPr lang="es-E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11" name="Freeform 11"/>
          <p:cNvSpPr/>
          <p:nvPr/>
        </p:nvSpPr>
        <p:spPr>
          <a:xfrm rot="-10800000">
            <a:off x="3088233" y="5190603"/>
            <a:ext cx="5128563" cy="381636"/>
          </a:xfrm>
          <a:custGeom>
            <a:avLst/>
            <a:gdLst/>
            <a:ahLst/>
            <a:cxnLst/>
            <a:rect l="l" t="t" r="r" b="b"/>
            <a:pathLst>
              <a:path w="5128563" h="381636">
                <a:moveTo>
                  <a:pt x="0" y="0"/>
                </a:moveTo>
                <a:lnTo>
                  <a:pt x="5128564" y="0"/>
                </a:lnTo>
                <a:lnTo>
                  <a:pt x="5128564" y="381636"/>
                </a:lnTo>
                <a:lnTo>
                  <a:pt x="0" y="381636"/>
                </a:lnTo>
                <a:lnTo>
                  <a:pt x="0" y="0"/>
                </a:lnTo>
                <a:close/>
              </a:path>
            </a:pathLst>
          </a:custGeom>
          <a:blipFill>
            <a:blip r:embed="rId2">
              <a:alphaModFix amt="72000"/>
            </a:blip>
            <a:stretch>
              <a:fillRect b="-286352"/>
            </a:stretch>
          </a:blipFill>
        </p:spPr>
        <p:txBody>
          <a:bodyPr/>
          <a:lstStyle/>
          <a:p>
            <a:endParaRPr lang="es-ES"/>
          </a:p>
        </p:txBody>
      </p:sp>
      <p:grpSp>
        <p:nvGrpSpPr>
          <p:cNvPr id="12" name="Group 12"/>
          <p:cNvGrpSpPr/>
          <p:nvPr/>
        </p:nvGrpSpPr>
        <p:grpSpPr>
          <a:xfrm>
            <a:off x="2985077" y="3145630"/>
            <a:ext cx="5334876" cy="2086085"/>
            <a:chOff x="0" y="0"/>
            <a:chExt cx="1234628" cy="482774"/>
          </a:xfrm>
        </p:grpSpPr>
        <p:sp>
          <p:nvSpPr>
            <p:cNvPr id="13" name="Freeform 13"/>
            <p:cNvSpPr/>
            <p:nvPr/>
          </p:nvSpPr>
          <p:spPr>
            <a:xfrm>
              <a:off x="0" y="0"/>
              <a:ext cx="1234628" cy="482774"/>
            </a:xfrm>
            <a:custGeom>
              <a:avLst/>
              <a:gdLst/>
              <a:ahLst/>
              <a:cxnLst/>
              <a:rect l="l" t="t" r="r" b="b"/>
              <a:pathLst>
                <a:path w="1234628" h="482774">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B23D44"/>
              </a:solidFill>
              <a:prstDash val="solid"/>
              <a:round/>
            </a:ln>
          </p:spPr>
          <p:txBody>
            <a:bodyPr/>
            <a:lstStyle/>
            <a:p>
              <a:endParaRPr lang="es-ES"/>
            </a:p>
          </p:txBody>
        </p:sp>
        <p:sp>
          <p:nvSpPr>
            <p:cNvPr id="14" name="TextBox 14"/>
            <p:cNvSpPr txBox="1"/>
            <p:nvPr/>
          </p:nvSpPr>
          <p:spPr>
            <a:xfrm>
              <a:off x="0" y="-38100"/>
              <a:ext cx="1234628" cy="520874"/>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5" name="Group 15"/>
          <p:cNvGrpSpPr/>
          <p:nvPr/>
        </p:nvGrpSpPr>
        <p:grpSpPr>
          <a:xfrm>
            <a:off x="2371063" y="3598536"/>
            <a:ext cx="1228028" cy="1226514"/>
            <a:chOff x="0" y="0"/>
            <a:chExt cx="323431" cy="323032"/>
          </a:xfrm>
        </p:grpSpPr>
        <p:sp>
          <p:nvSpPr>
            <p:cNvPr id="16" name="Freeform 16"/>
            <p:cNvSpPr/>
            <p:nvPr/>
          </p:nvSpPr>
          <p:spPr>
            <a:xfrm>
              <a:off x="0" y="0"/>
              <a:ext cx="323431" cy="323032"/>
            </a:xfrm>
            <a:custGeom>
              <a:avLst/>
              <a:gdLst/>
              <a:ahLst/>
              <a:cxnLst/>
              <a:rect l="l" t="t" r="r" b="b"/>
              <a:pathLst>
                <a:path w="323431" h="323032">
                  <a:moveTo>
                    <a:pt x="0" y="0"/>
                  </a:moveTo>
                  <a:lnTo>
                    <a:pt x="323431" y="0"/>
                  </a:lnTo>
                  <a:lnTo>
                    <a:pt x="323431" y="323032"/>
                  </a:lnTo>
                  <a:lnTo>
                    <a:pt x="0" y="323032"/>
                  </a:lnTo>
                  <a:close/>
                </a:path>
              </a:pathLst>
            </a:custGeom>
            <a:solidFill>
              <a:srgbClr val="FFFFFF"/>
            </a:solidFill>
          </p:spPr>
          <p:txBody>
            <a:bodyPr/>
            <a:lstStyle/>
            <a:p>
              <a:endParaRPr lang="es-ES"/>
            </a:p>
          </p:txBody>
        </p:sp>
        <p:sp>
          <p:nvSpPr>
            <p:cNvPr id="17" name="TextBox 17"/>
            <p:cNvSpPr txBox="1"/>
            <p:nvPr/>
          </p:nvSpPr>
          <p:spPr>
            <a:xfrm>
              <a:off x="0" y="-114300"/>
              <a:ext cx="323431" cy="437332"/>
            </a:xfrm>
            <a:prstGeom prst="rect">
              <a:avLst/>
            </a:prstGeom>
          </p:spPr>
          <p:txBody>
            <a:bodyPr lIns="50800" tIns="50800" rIns="50800" bIns="50800" rtlCol="0" anchor="ctr"/>
            <a:lstStyle/>
            <a:p>
              <a:pPr algn="ctr">
                <a:lnSpc>
                  <a:spcPts val="8076"/>
                </a:lnSpc>
              </a:pPr>
              <a:endParaRPr/>
            </a:p>
          </p:txBody>
        </p:sp>
      </p:grpSp>
      <p:sp>
        <p:nvSpPr>
          <p:cNvPr id="18" name="Freeform 18"/>
          <p:cNvSpPr/>
          <p:nvPr/>
        </p:nvSpPr>
        <p:spPr>
          <a:xfrm rot="-10800000">
            <a:off x="3091718" y="8007116"/>
            <a:ext cx="5128563" cy="381636"/>
          </a:xfrm>
          <a:custGeom>
            <a:avLst/>
            <a:gdLst/>
            <a:ahLst/>
            <a:cxnLst/>
            <a:rect l="l" t="t" r="r" b="b"/>
            <a:pathLst>
              <a:path w="5128563" h="381636">
                <a:moveTo>
                  <a:pt x="0" y="0"/>
                </a:moveTo>
                <a:lnTo>
                  <a:pt x="5128563" y="0"/>
                </a:lnTo>
                <a:lnTo>
                  <a:pt x="5128563" y="381637"/>
                </a:lnTo>
                <a:lnTo>
                  <a:pt x="0" y="381637"/>
                </a:lnTo>
                <a:lnTo>
                  <a:pt x="0" y="0"/>
                </a:lnTo>
                <a:close/>
              </a:path>
            </a:pathLst>
          </a:custGeom>
          <a:blipFill>
            <a:blip r:embed="rId2">
              <a:alphaModFix amt="72000"/>
            </a:blip>
            <a:stretch>
              <a:fillRect b="-286352"/>
            </a:stretch>
          </a:blipFill>
        </p:spPr>
        <p:txBody>
          <a:bodyPr/>
          <a:lstStyle/>
          <a:p>
            <a:endParaRPr lang="es-ES"/>
          </a:p>
        </p:txBody>
      </p:sp>
      <p:grpSp>
        <p:nvGrpSpPr>
          <p:cNvPr id="19" name="Group 19"/>
          <p:cNvGrpSpPr/>
          <p:nvPr/>
        </p:nvGrpSpPr>
        <p:grpSpPr>
          <a:xfrm>
            <a:off x="2985077" y="5987830"/>
            <a:ext cx="5334876" cy="2086085"/>
            <a:chOff x="0" y="0"/>
            <a:chExt cx="1234628" cy="482774"/>
          </a:xfrm>
        </p:grpSpPr>
        <p:sp>
          <p:nvSpPr>
            <p:cNvPr id="20" name="Freeform 20"/>
            <p:cNvSpPr/>
            <p:nvPr/>
          </p:nvSpPr>
          <p:spPr>
            <a:xfrm>
              <a:off x="0" y="0"/>
              <a:ext cx="1234628" cy="482774"/>
            </a:xfrm>
            <a:custGeom>
              <a:avLst/>
              <a:gdLst/>
              <a:ahLst/>
              <a:cxnLst/>
              <a:rect l="l" t="t" r="r" b="b"/>
              <a:pathLst>
                <a:path w="1234628" h="482774">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B23D44"/>
              </a:solidFill>
              <a:prstDash val="solid"/>
              <a:round/>
            </a:ln>
          </p:spPr>
          <p:txBody>
            <a:bodyPr/>
            <a:lstStyle/>
            <a:p>
              <a:endParaRPr lang="es-ES"/>
            </a:p>
          </p:txBody>
        </p:sp>
        <p:sp>
          <p:nvSpPr>
            <p:cNvPr id="21" name="TextBox 21"/>
            <p:cNvSpPr txBox="1"/>
            <p:nvPr/>
          </p:nvSpPr>
          <p:spPr>
            <a:xfrm>
              <a:off x="0" y="-38100"/>
              <a:ext cx="1234628" cy="520874"/>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22" name="Group 22"/>
          <p:cNvGrpSpPr/>
          <p:nvPr/>
        </p:nvGrpSpPr>
        <p:grpSpPr>
          <a:xfrm>
            <a:off x="2371063" y="6440736"/>
            <a:ext cx="1228028" cy="1226514"/>
            <a:chOff x="0" y="0"/>
            <a:chExt cx="323431" cy="323032"/>
          </a:xfrm>
        </p:grpSpPr>
        <p:sp>
          <p:nvSpPr>
            <p:cNvPr id="23" name="Freeform 23"/>
            <p:cNvSpPr/>
            <p:nvPr/>
          </p:nvSpPr>
          <p:spPr>
            <a:xfrm>
              <a:off x="0" y="0"/>
              <a:ext cx="323431" cy="323032"/>
            </a:xfrm>
            <a:custGeom>
              <a:avLst/>
              <a:gdLst/>
              <a:ahLst/>
              <a:cxnLst/>
              <a:rect l="l" t="t" r="r" b="b"/>
              <a:pathLst>
                <a:path w="323431" h="323032">
                  <a:moveTo>
                    <a:pt x="0" y="0"/>
                  </a:moveTo>
                  <a:lnTo>
                    <a:pt x="323431" y="0"/>
                  </a:lnTo>
                  <a:lnTo>
                    <a:pt x="323431" y="323032"/>
                  </a:lnTo>
                  <a:lnTo>
                    <a:pt x="0" y="323032"/>
                  </a:lnTo>
                  <a:close/>
                </a:path>
              </a:pathLst>
            </a:custGeom>
            <a:solidFill>
              <a:srgbClr val="FFFFFF"/>
            </a:solidFill>
          </p:spPr>
          <p:txBody>
            <a:bodyPr/>
            <a:lstStyle/>
            <a:p>
              <a:endParaRPr lang="es-ES"/>
            </a:p>
          </p:txBody>
        </p:sp>
        <p:sp>
          <p:nvSpPr>
            <p:cNvPr id="24" name="TextBox 24"/>
            <p:cNvSpPr txBox="1"/>
            <p:nvPr/>
          </p:nvSpPr>
          <p:spPr>
            <a:xfrm>
              <a:off x="0" y="-114300"/>
              <a:ext cx="323431" cy="437332"/>
            </a:xfrm>
            <a:prstGeom prst="rect">
              <a:avLst/>
            </a:prstGeom>
          </p:spPr>
          <p:txBody>
            <a:bodyPr lIns="50800" tIns="50800" rIns="50800" bIns="50800" rtlCol="0" anchor="ctr"/>
            <a:lstStyle/>
            <a:p>
              <a:pPr algn="ctr">
                <a:lnSpc>
                  <a:spcPts val="8076"/>
                </a:lnSpc>
              </a:pPr>
              <a:endParaRPr/>
            </a:p>
          </p:txBody>
        </p:sp>
      </p:grpSp>
      <p:sp>
        <p:nvSpPr>
          <p:cNvPr id="25" name="Freeform 25"/>
          <p:cNvSpPr/>
          <p:nvPr/>
        </p:nvSpPr>
        <p:spPr>
          <a:xfrm rot="-10800000">
            <a:off x="10544055" y="5190603"/>
            <a:ext cx="5128563" cy="381636"/>
          </a:xfrm>
          <a:custGeom>
            <a:avLst/>
            <a:gdLst/>
            <a:ahLst/>
            <a:cxnLst/>
            <a:rect l="l" t="t" r="r" b="b"/>
            <a:pathLst>
              <a:path w="5128563" h="381636">
                <a:moveTo>
                  <a:pt x="0" y="0"/>
                </a:moveTo>
                <a:lnTo>
                  <a:pt x="5128563" y="0"/>
                </a:lnTo>
                <a:lnTo>
                  <a:pt x="5128563" y="381636"/>
                </a:lnTo>
                <a:lnTo>
                  <a:pt x="0" y="381636"/>
                </a:lnTo>
                <a:lnTo>
                  <a:pt x="0" y="0"/>
                </a:lnTo>
                <a:close/>
              </a:path>
            </a:pathLst>
          </a:custGeom>
          <a:blipFill>
            <a:blip r:embed="rId2">
              <a:alphaModFix amt="72000"/>
            </a:blip>
            <a:stretch>
              <a:fillRect b="-286352"/>
            </a:stretch>
          </a:blipFill>
        </p:spPr>
        <p:txBody>
          <a:bodyPr/>
          <a:lstStyle/>
          <a:p>
            <a:endParaRPr lang="es-ES"/>
          </a:p>
        </p:txBody>
      </p:sp>
      <p:grpSp>
        <p:nvGrpSpPr>
          <p:cNvPr id="26" name="Group 26"/>
          <p:cNvGrpSpPr/>
          <p:nvPr/>
        </p:nvGrpSpPr>
        <p:grpSpPr>
          <a:xfrm>
            <a:off x="10440899" y="3113063"/>
            <a:ext cx="5334876" cy="2086085"/>
            <a:chOff x="0" y="0"/>
            <a:chExt cx="1234628" cy="482774"/>
          </a:xfrm>
        </p:grpSpPr>
        <p:sp>
          <p:nvSpPr>
            <p:cNvPr id="27" name="Freeform 27"/>
            <p:cNvSpPr/>
            <p:nvPr/>
          </p:nvSpPr>
          <p:spPr>
            <a:xfrm>
              <a:off x="0" y="0"/>
              <a:ext cx="1234628" cy="482774"/>
            </a:xfrm>
            <a:custGeom>
              <a:avLst/>
              <a:gdLst/>
              <a:ahLst/>
              <a:cxnLst/>
              <a:rect l="l" t="t" r="r" b="b"/>
              <a:pathLst>
                <a:path w="1234628" h="482774">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B23D44"/>
              </a:solidFill>
              <a:prstDash val="solid"/>
              <a:round/>
            </a:ln>
          </p:spPr>
          <p:txBody>
            <a:bodyPr/>
            <a:lstStyle/>
            <a:p>
              <a:endParaRPr lang="es-ES"/>
            </a:p>
          </p:txBody>
        </p:sp>
        <p:sp>
          <p:nvSpPr>
            <p:cNvPr id="28" name="TextBox 28"/>
            <p:cNvSpPr txBox="1"/>
            <p:nvPr/>
          </p:nvSpPr>
          <p:spPr>
            <a:xfrm>
              <a:off x="0" y="-38100"/>
              <a:ext cx="1234628" cy="520874"/>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29" name="Group 29"/>
          <p:cNvGrpSpPr/>
          <p:nvPr/>
        </p:nvGrpSpPr>
        <p:grpSpPr>
          <a:xfrm>
            <a:off x="9826885" y="3565969"/>
            <a:ext cx="1228028" cy="1226514"/>
            <a:chOff x="0" y="0"/>
            <a:chExt cx="323431" cy="323032"/>
          </a:xfrm>
        </p:grpSpPr>
        <p:sp>
          <p:nvSpPr>
            <p:cNvPr id="30" name="Freeform 30"/>
            <p:cNvSpPr/>
            <p:nvPr/>
          </p:nvSpPr>
          <p:spPr>
            <a:xfrm>
              <a:off x="0" y="0"/>
              <a:ext cx="323431" cy="323032"/>
            </a:xfrm>
            <a:custGeom>
              <a:avLst/>
              <a:gdLst/>
              <a:ahLst/>
              <a:cxnLst/>
              <a:rect l="l" t="t" r="r" b="b"/>
              <a:pathLst>
                <a:path w="323431" h="323032">
                  <a:moveTo>
                    <a:pt x="0" y="0"/>
                  </a:moveTo>
                  <a:lnTo>
                    <a:pt x="323431" y="0"/>
                  </a:lnTo>
                  <a:lnTo>
                    <a:pt x="323431" y="323032"/>
                  </a:lnTo>
                  <a:lnTo>
                    <a:pt x="0" y="323032"/>
                  </a:lnTo>
                  <a:close/>
                </a:path>
              </a:pathLst>
            </a:custGeom>
            <a:solidFill>
              <a:srgbClr val="FFFFFF"/>
            </a:solidFill>
          </p:spPr>
          <p:txBody>
            <a:bodyPr/>
            <a:lstStyle/>
            <a:p>
              <a:endParaRPr lang="es-ES"/>
            </a:p>
          </p:txBody>
        </p:sp>
        <p:sp>
          <p:nvSpPr>
            <p:cNvPr id="31" name="TextBox 31"/>
            <p:cNvSpPr txBox="1"/>
            <p:nvPr/>
          </p:nvSpPr>
          <p:spPr>
            <a:xfrm>
              <a:off x="0" y="-114300"/>
              <a:ext cx="323431" cy="437332"/>
            </a:xfrm>
            <a:prstGeom prst="rect">
              <a:avLst/>
            </a:prstGeom>
          </p:spPr>
          <p:txBody>
            <a:bodyPr lIns="50800" tIns="50800" rIns="50800" bIns="50800" rtlCol="0" anchor="ctr"/>
            <a:lstStyle/>
            <a:p>
              <a:pPr algn="ctr">
                <a:lnSpc>
                  <a:spcPts val="8076"/>
                </a:lnSpc>
              </a:pPr>
              <a:endParaRPr/>
            </a:p>
          </p:txBody>
        </p:sp>
      </p:grpSp>
      <p:sp>
        <p:nvSpPr>
          <p:cNvPr id="32" name="Freeform 32"/>
          <p:cNvSpPr/>
          <p:nvPr/>
        </p:nvSpPr>
        <p:spPr>
          <a:xfrm>
            <a:off x="2634815" y="3770784"/>
            <a:ext cx="841683" cy="841683"/>
          </a:xfrm>
          <a:custGeom>
            <a:avLst/>
            <a:gdLst/>
            <a:ahLst/>
            <a:cxnLst/>
            <a:rect l="l" t="t" r="r" b="b"/>
            <a:pathLst>
              <a:path w="841683" h="841683">
                <a:moveTo>
                  <a:pt x="0" y="0"/>
                </a:moveTo>
                <a:lnTo>
                  <a:pt x="841682" y="0"/>
                </a:lnTo>
                <a:lnTo>
                  <a:pt x="841682" y="841682"/>
                </a:lnTo>
                <a:lnTo>
                  <a:pt x="0" y="841682"/>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s-ES"/>
          </a:p>
        </p:txBody>
      </p:sp>
      <p:grpSp>
        <p:nvGrpSpPr>
          <p:cNvPr id="33" name="Group 33"/>
          <p:cNvGrpSpPr/>
          <p:nvPr/>
        </p:nvGrpSpPr>
        <p:grpSpPr>
          <a:xfrm>
            <a:off x="14890009" y="-2821937"/>
            <a:ext cx="5578401" cy="5578401"/>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23D44"/>
            </a:solidFill>
            <a:ln w="742950" cap="sq">
              <a:solidFill>
                <a:srgbClr val="B23D44"/>
              </a:solidFill>
              <a:prstDash val="solid"/>
              <a:miter/>
            </a:ln>
          </p:spPr>
          <p:txBody>
            <a:bodyPr/>
            <a:lstStyle/>
            <a:p>
              <a:endParaRPr lang="es-ES"/>
            </a:p>
          </p:txBody>
        </p:sp>
        <p:sp>
          <p:nvSpPr>
            <p:cNvPr id="35" name="TextBox 35"/>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36" name="Freeform 36"/>
          <p:cNvSpPr/>
          <p:nvPr/>
        </p:nvSpPr>
        <p:spPr>
          <a:xfrm>
            <a:off x="9968047" y="3654870"/>
            <a:ext cx="945704" cy="935710"/>
          </a:xfrm>
          <a:custGeom>
            <a:avLst/>
            <a:gdLst/>
            <a:ahLst/>
            <a:cxnLst/>
            <a:rect l="l" t="t" r="r" b="b"/>
            <a:pathLst>
              <a:path w="945704" h="935710">
                <a:moveTo>
                  <a:pt x="0" y="0"/>
                </a:moveTo>
                <a:lnTo>
                  <a:pt x="945704" y="0"/>
                </a:lnTo>
                <a:lnTo>
                  <a:pt x="945704" y="935709"/>
                </a:lnTo>
                <a:lnTo>
                  <a:pt x="0" y="9357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ES"/>
          </a:p>
        </p:txBody>
      </p:sp>
      <p:sp>
        <p:nvSpPr>
          <p:cNvPr id="37" name="Freeform 37"/>
          <p:cNvSpPr/>
          <p:nvPr/>
        </p:nvSpPr>
        <p:spPr>
          <a:xfrm rot="-10800000">
            <a:off x="10685217" y="7878824"/>
            <a:ext cx="5128563" cy="381636"/>
          </a:xfrm>
          <a:custGeom>
            <a:avLst/>
            <a:gdLst/>
            <a:ahLst/>
            <a:cxnLst/>
            <a:rect l="l" t="t" r="r" b="b"/>
            <a:pathLst>
              <a:path w="5128563" h="381636">
                <a:moveTo>
                  <a:pt x="0" y="0"/>
                </a:moveTo>
                <a:lnTo>
                  <a:pt x="5128564" y="0"/>
                </a:lnTo>
                <a:lnTo>
                  <a:pt x="5128564" y="381637"/>
                </a:lnTo>
                <a:lnTo>
                  <a:pt x="0" y="381637"/>
                </a:lnTo>
                <a:lnTo>
                  <a:pt x="0" y="0"/>
                </a:lnTo>
                <a:close/>
              </a:path>
            </a:pathLst>
          </a:custGeom>
          <a:blipFill>
            <a:blip r:embed="rId2">
              <a:alphaModFix amt="72000"/>
            </a:blip>
            <a:stretch>
              <a:fillRect b="-286352"/>
            </a:stretch>
          </a:blipFill>
        </p:spPr>
        <p:txBody>
          <a:bodyPr/>
          <a:lstStyle/>
          <a:p>
            <a:endParaRPr lang="es-ES"/>
          </a:p>
        </p:txBody>
      </p:sp>
      <p:grpSp>
        <p:nvGrpSpPr>
          <p:cNvPr id="38" name="Group 38"/>
          <p:cNvGrpSpPr/>
          <p:nvPr/>
        </p:nvGrpSpPr>
        <p:grpSpPr>
          <a:xfrm>
            <a:off x="10582061" y="5801285"/>
            <a:ext cx="5334876" cy="2086085"/>
            <a:chOff x="0" y="0"/>
            <a:chExt cx="1234628" cy="482774"/>
          </a:xfrm>
        </p:grpSpPr>
        <p:sp>
          <p:nvSpPr>
            <p:cNvPr id="39" name="Freeform 39"/>
            <p:cNvSpPr/>
            <p:nvPr/>
          </p:nvSpPr>
          <p:spPr>
            <a:xfrm>
              <a:off x="0" y="0"/>
              <a:ext cx="1234628" cy="482774"/>
            </a:xfrm>
            <a:custGeom>
              <a:avLst/>
              <a:gdLst/>
              <a:ahLst/>
              <a:cxnLst/>
              <a:rect l="l" t="t" r="r" b="b"/>
              <a:pathLst>
                <a:path w="1234628" h="482774">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B23D44"/>
              </a:solidFill>
              <a:prstDash val="solid"/>
              <a:round/>
            </a:ln>
          </p:spPr>
          <p:txBody>
            <a:bodyPr/>
            <a:lstStyle/>
            <a:p>
              <a:endParaRPr lang="es-ES"/>
            </a:p>
          </p:txBody>
        </p:sp>
        <p:sp>
          <p:nvSpPr>
            <p:cNvPr id="40" name="TextBox 40"/>
            <p:cNvSpPr txBox="1"/>
            <p:nvPr/>
          </p:nvSpPr>
          <p:spPr>
            <a:xfrm>
              <a:off x="0" y="-38100"/>
              <a:ext cx="1234628" cy="520874"/>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41" name="Group 41"/>
          <p:cNvGrpSpPr/>
          <p:nvPr/>
        </p:nvGrpSpPr>
        <p:grpSpPr>
          <a:xfrm>
            <a:off x="9968047" y="6254190"/>
            <a:ext cx="1228028" cy="1226514"/>
            <a:chOff x="0" y="0"/>
            <a:chExt cx="323431" cy="323032"/>
          </a:xfrm>
        </p:grpSpPr>
        <p:sp>
          <p:nvSpPr>
            <p:cNvPr id="42" name="Freeform 42"/>
            <p:cNvSpPr/>
            <p:nvPr/>
          </p:nvSpPr>
          <p:spPr>
            <a:xfrm>
              <a:off x="0" y="0"/>
              <a:ext cx="323431" cy="323032"/>
            </a:xfrm>
            <a:custGeom>
              <a:avLst/>
              <a:gdLst/>
              <a:ahLst/>
              <a:cxnLst/>
              <a:rect l="l" t="t" r="r" b="b"/>
              <a:pathLst>
                <a:path w="323431" h="323032">
                  <a:moveTo>
                    <a:pt x="0" y="0"/>
                  </a:moveTo>
                  <a:lnTo>
                    <a:pt x="323431" y="0"/>
                  </a:lnTo>
                  <a:lnTo>
                    <a:pt x="323431" y="323032"/>
                  </a:lnTo>
                  <a:lnTo>
                    <a:pt x="0" y="323032"/>
                  </a:lnTo>
                  <a:close/>
                </a:path>
              </a:pathLst>
            </a:custGeom>
            <a:solidFill>
              <a:srgbClr val="FFFFFF"/>
            </a:solidFill>
          </p:spPr>
          <p:txBody>
            <a:bodyPr/>
            <a:lstStyle/>
            <a:p>
              <a:endParaRPr lang="es-ES"/>
            </a:p>
          </p:txBody>
        </p:sp>
        <p:sp>
          <p:nvSpPr>
            <p:cNvPr id="43" name="TextBox 43"/>
            <p:cNvSpPr txBox="1"/>
            <p:nvPr/>
          </p:nvSpPr>
          <p:spPr>
            <a:xfrm>
              <a:off x="0" y="-114300"/>
              <a:ext cx="323431" cy="437332"/>
            </a:xfrm>
            <a:prstGeom prst="rect">
              <a:avLst/>
            </a:prstGeom>
          </p:spPr>
          <p:txBody>
            <a:bodyPr lIns="50800" tIns="50800" rIns="50800" bIns="50800" rtlCol="0" anchor="ctr"/>
            <a:lstStyle/>
            <a:p>
              <a:pPr algn="ctr">
                <a:lnSpc>
                  <a:spcPts val="8076"/>
                </a:lnSpc>
              </a:pPr>
              <a:endParaRPr/>
            </a:p>
          </p:txBody>
        </p:sp>
      </p:grpSp>
      <p:sp>
        <p:nvSpPr>
          <p:cNvPr id="44" name="Freeform 44"/>
          <p:cNvSpPr/>
          <p:nvPr/>
        </p:nvSpPr>
        <p:spPr>
          <a:xfrm>
            <a:off x="10096210" y="6440736"/>
            <a:ext cx="895690" cy="897322"/>
          </a:xfrm>
          <a:custGeom>
            <a:avLst/>
            <a:gdLst/>
            <a:ahLst/>
            <a:cxnLst/>
            <a:rect l="l" t="t" r="r" b="b"/>
            <a:pathLst>
              <a:path w="895690" h="897322">
                <a:moveTo>
                  <a:pt x="0" y="0"/>
                </a:moveTo>
                <a:lnTo>
                  <a:pt x="895691" y="0"/>
                </a:lnTo>
                <a:lnTo>
                  <a:pt x="895691" y="897322"/>
                </a:lnTo>
                <a:lnTo>
                  <a:pt x="0" y="8973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ES"/>
          </a:p>
        </p:txBody>
      </p:sp>
      <p:sp>
        <p:nvSpPr>
          <p:cNvPr id="45" name="TextBox 45"/>
          <p:cNvSpPr txBox="1"/>
          <p:nvPr/>
        </p:nvSpPr>
        <p:spPr>
          <a:xfrm>
            <a:off x="3732441" y="3546760"/>
            <a:ext cx="4100514" cy="1199642"/>
          </a:xfrm>
          <a:prstGeom prst="rect">
            <a:avLst/>
          </a:prstGeom>
        </p:spPr>
        <p:txBody>
          <a:bodyPr lIns="0" tIns="0" rIns="0" bIns="0" rtlCol="0" anchor="t">
            <a:spAutoFit/>
          </a:bodyPr>
          <a:lstStyle/>
          <a:p>
            <a:pPr marL="0" lvl="0" indent="0" algn="ctr">
              <a:lnSpc>
                <a:spcPts val="4864"/>
              </a:lnSpc>
              <a:spcBef>
                <a:spcPct val="0"/>
              </a:spcBef>
            </a:pPr>
            <a:r>
              <a:rPr lang="en-US" sz="3800" b="1">
                <a:solidFill>
                  <a:srgbClr val="333231"/>
                </a:solidFill>
                <a:latin typeface="Open Sauce Bold"/>
                <a:ea typeface="Open Sauce Bold"/>
                <a:cs typeface="Open Sauce Bold"/>
                <a:sym typeface="Open Sauce Bold"/>
              </a:rPr>
              <a:t>Optimización de entregas</a:t>
            </a:r>
          </a:p>
        </p:txBody>
      </p:sp>
      <p:sp>
        <p:nvSpPr>
          <p:cNvPr id="46" name="TextBox 46"/>
          <p:cNvSpPr txBox="1"/>
          <p:nvPr/>
        </p:nvSpPr>
        <p:spPr>
          <a:xfrm>
            <a:off x="3605742" y="6470201"/>
            <a:ext cx="4100514" cy="1199642"/>
          </a:xfrm>
          <a:prstGeom prst="rect">
            <a:avLst/>
          </a:prstGeom>
        </p:spPr>
        <p:txBody>
          <a:bodyPr lIns="0" tIns="0" rIns="0" bIns="0" rtlCol="0" anchor="t">
            <a:spAutoFit/>
          </a:bodyPr>
          <a:lstStyle/>
          <a:p>
            <a:pPr marL="0" lvl="0" indent="0" algn="ctr">
              <a:lnSpc>
                <a:spcPts val="4864"/>
              </a:lnSpc>
              <a:spcBef>
                <a:spcPct val="0"/>
              </a:spcBef>
            </a:pPr>
            <a:r>
              <a:rPr lang="en-US" sz="3800" b="1">
                <a:solidFill>
                  <a:srgbClr val="333231"/>
                </a:solidFill>
                <a:latin typeface="Open Sauce Bold"/>
                <a:ea typeface="Open Sauce Bold"/>
                <a:cs typeface="Open Sauce Bold"/>
                <a:sym typeface="Open Sauce Bold"/>
              </a:rPr>
              <a:t>Innovación tecnológica</a:t>
            </a:r>
          </a:p>
        </p:txBody>
      </p:sp>
      <p:sp>
        <p:nvSpPr>
          <p:cNvPr id="47" name="TextBox 47"/>
          <p:cNvSpPr txBox="1"/>
          <p:nvPr/>
        </p:nvSpPr>
        <p:spPr>
          <a:xfrm>
            <a:off x="11047101" y="3569880"/>
            <a:ext cx="4100514" cy="1199642"/>
          </a:xfrm>
          <a:prstGeom prst="rect">
            <a:avLst/>
          </a:prstGeom>
        </p:spPr>
        <p:txBody>
          <a:bodyPr lIns="0" tIns="0" rIns="0" bIns="0" rtlCol="0" anchor="t">
            <a:spAutoFit/>
          </a:bodyPr>
          <a:lstStyle/>
          <a:p>
            <a:pPr marL="0" lvl="0" indent="0" algn="ctr">
              <a:lnSpc>
                <a:spcPts val="4864"/>
              </a:lnSpc>
              <a:spcBef>
                <a:spcPct val="0"/>
              </a:spcBef>
            </a:pPr>
            <a:r>
              <a:rPr lang="en-US" sz="3800" b="1">
                <a:solidFill>
                  <a:srgbClr val="333231"/>
                </a:solidFill>
                <a:latin typeface="Open Sauce Bold"/>
                <a:ea typeface="Open Sauce Bold"/>
                <a:cs typeface="Open Sauce Bold"/>
                <a:sym typeface="Open Sauce Bold"/>
              </a:rPr>
              <a:t>Sostenibilidad ambiental</a:t>
            </a:r>
          </a:p>
        </p:txBody>
      </p:sp>
      <p:sp>
        <p:nvSpPr>
          <p:cNvPr id="48" name="TextBox 48"/>
          <p:cNvSpPr txBox="1"/>
          <p:nvPr/>
        </p:nvSpPr>
        <p:spPr>
          <a:xfrm>
            <a:off x="1435992" y="1013300"/>
            <a:ext cx="6396963" cy="1151255"/>
          </a:xfrm>
          <a:prstGeom prst="rect">
            <a:avLst/>
          </a:prstGeom>
        </p:spPr>
        <p:txBody>
          <a:bodyPr lIns="0" tIns="0" rIns="0" bIns="0" rtlCol="0" anchor="t">
            <a:spAutoFit/>
          </a:bodyPr>
          <a:lstStyle/>
          <a:p>
            <a:pPr marL="0" lvl="0" indent="0" algn="l">
              <a:lnSpc>
                <a:spcPts val="9520"/>
              </a:lnSpc>
              <a:spcBef>
                <a:spcPct val="0"/>
              </a:spcBef>
            </a:pPr>
            <a:r>
              <a:rPr lang="en-US" sz="6800" b="1" spc="-136">
                <a:solidFill>
                  <a:srgbClr val="191919"/>
                </a:solidFill>
                <a:latin typeface="Open Sauce Bold"/>
                <a:ea typeface="Open Sauce Bold"/>
                <a:cs typeface="Open Sauce Bold"/>
                <a:sym typeface="Open Sauce Bold"/>
              </a:rPr>
              <a:t>Objetivos</a:t>
            </a:r>
          </a:p>
        </p:txBody>
      </p:sp>
      <p:sp>
        <p:nvSpPr>
          <p:cNvPr id="49" name="TextBox 49"/>
          <p:cNvSpPr txBox="1"/>
          <p:nvPr/>
        </p:nvSpPr>
        <p:spPr>
          <a:xfrm>
            <a:off x="11188263" y="6258101"/>
            <a:ext cx="4100514" cy="1199642"/>
          </a:xfrm>
          <a:prstGeom prst="rect">
            <a:avLst/>
          </a:prstGeom>
        </p:spPr>
        <p:txBody>
          <a:bodyPr lIns="0" tIns="0" rIns="0" bIns="0" rtlCol="0" anchor="t">
            <a:spAutoFit/>
          </a:bodyPr>
          <a:lstStyle/>
          <a:p>
            <a:pPr marL="0" lvl="0" indent="0" algn="ctr">
              <a:lnSpc>
                <a:spcPts val="4864"/>
              </a:lnSpc>
              <a:spcBef>
                <a:spcPct val="0"/>
              </a:spcBef>
            </a:pPr>
            <a:r>
              <a:rPr lang="en-US" sz="3800" b="1">
                <a:solidFill>
                  <a:srgbClr val="333231"/>
                </a:solidFill>
                <a:latin typeface="Open Sauce Bold"/>
                <a:ea typeface="Open Sauce Bold"/>
                <a:cs typeface="Open Sauce Bold"/>
                <a:sym typeface="Open Sauce Bold"/>
              </a:rPr>
              <a:t>Competitividad en el mercado</a:t>
            </a:r>
          </a:p>
        </p:txBody>
      </p:sp>
      <p:sp>
        <p:nvSpPr>
          <p:cNvPr id="50" name="Freeform 50"/>
          <p:cNvSpPr/>
          <p:nvPr/>
        </p:nvSpPr>
        <p:spPr>
          <a:xfrm>
            <a:off x="2583977" y="6553113"/>
            <a:ext cx="943359" cy="955520"/>
          </a:xfrm>
          <a:custGeom>
            <a:avLst/>
            <a:gdLst/>
            <a:ahLst/>
            <a:cxnLst/>
            <a:rect l="l" t="t" r="r" b="b"/>
            <a:pathLst>
              <a:path w="943359" h="955520">
                <a:moveTo>
                  <a:pt x="0" y="0"/>
                </a:moveTo>
                <a:lnTo>
                  <a:pt x="943358" y="0"/>
                </a:lnTo>
                <a:lnTo>
                  <a:pt x="943358" y="955520"/>
                </a:lnTo>
                <a:lnTo>
                  <a:pt x="0" y="95552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s-E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Freeform 2"/>
          <p:cNvSpPr/>
          <p:nvPr/>
        </p:nvSpPr>
        <p:spPr>
          <a:xfrm flipH="1">
            <a:off x="14910781" y="0"/>
            <a:ext cx="3377219" cy="3377219"/>
          </a:xfrm>
          <a:custGeom>
            <a:avLst/>
            <a:gdLst/>
            <a:ahLst/>
            <a:cxnLst/>
            <a:rect l="l" t="t" r="r" b="b"/>
            <a:pathLst>
              <a:path w="3377219" h="3377219">
                <a:moveTo>
                  <a:pt x="3377219" y="0"/>
                </a:moveTo>
                <a:lnTo>
                  <a:pt x="0" y="0"/>
                </a:lnTo>
                <a:lnTo>
                  <a:pt x="0" y="3377219"/>
                </a:lnTo>
                <a:lnTo>
                  <a:pt x="3377219" y="3377219"/>
                </a:lnTo>
                <a:lnTo>
                  <a:pt x="3377219"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s-ES"/>
          </a:p>
        </p:txBody>
      </p:sp>
      <p:grpSp>
        <p:nvGrpSpPr>
          <p:cNvPr id="3" name="Group 3"/>
          <p:cNvGrpSpPr/>
          <p:nvPr/>
        </p:nvGrpSpPr>
        <p:grpSpPr>
          <a:xfrm>
            <a:off x="-1923846" y="8186287"/>
            <a:ext cx="4201427" cy="420142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B23D44"/>
              </a:solidFill>
              <a:prstDash val="solid"/>
              <a:miter/>
            </a:ln>
          </p:spPr>
          <p:txBody>
            <a:bodyPr/>
            <a:lstStyle/>
            <a:p>
              <a:endParaRPr lang="es-ES"/>
            </a:p>
          </p:txBody>
        </p:sp>
        <p:sp>
          <p:nvSpPr>
            <p:cNvPr id="5" name="TextBox 5"/>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6" name="TextBox 6"/>
          <p:cNvSpPr txBox="1"/>
          <p:nvPr/>
        </p:nvSpPr>
        <p:spPr>
          <a:xfrm>
            <a:off x="7668447" y="3375613"/>
            <a:ext cx="3041162" cy="381515"/>
          </a:xfrm>
          <a:prstGeom prst="rect">
            <a:avLst/>
          </a:prstGeom>
        </p:spPr>
        <p:txBody>
          <a:bodyPr wrap="square" lIns="0" tIns="0" rIns="0" bIns="0" rtlCol="0" anchor="t">
            <a:spAutoFit/>
          </a:bodyPr>
          <a:lstStyle/>
          <a:p>
            <a:pPr algn="ctr">
              <a:lnSpc>
                <a:spcPts val="3249"/>
              </a:lnSpc>
              <a:spcBef>
                <a:spcPct val="0"/>
              </a:spcBef>
            </a:pPr>
            <a:r>
              <a:rPr lang="en-US" sz="2499" dirty="0">
                <a:solidFill>
                  <a:srgbClr val="191919"/>
                </a:solidFill>
                <a:latin typeface="Open Sauce"/>
                <a:ea typeface="Open Sauce"/>
                <a:cs typeface="Open Sauce"/>
                <a:sym typeface="Open Sauce"/>
              </a:rPr>
              <a:t>Jefe del Proyecto</a:t>
            </a:r>
          </a:p>
        </p:txBody>
      </p:sp>
      <p:sp>
        <p:nvSpPr>
          <p:cNvPr id="7" name="AutoShape 7"/>
          <p:cNvSpPr/>
          <p:nvPr/>
        </p:nvSpPr>
        <p:spPr>
          <a:xfrm flipH="1">
            <a:off x="1866529" y="3755044"/>
            <a:ext cx="7277471" cy="1852202"/>
          </a:xfrm>
          <a:prstGeom prst="line">
            <a:avLst/>
          </a:prstGeom>
          <a:ln w="38100" cap="flat">
            <a:solidFill>
              <a:srgbClr val="AA3C47"/>
            </a:solidFill>
            <a:prstDash val="solid"/>
            <a:headEnd type="none" w="sm" len="sm"/>
            <a:tailEnd type="arrow" w="med" len="sm"/>
          </a:ln>
        </p:spPr>
        <p:txBody>
          <a:bodyPr/>
          <a:lstStyle/>
          <a:p>
            <a:endParaRPr lang="es-ES"/>
          </a:p>
        </p:txBody>
      </p:sp>
      <p:sp>
        <p:nvSpPr>
          <p:cNvPr id="8" name="AutoShape 8"/>
          <p:cNvSpPr/>
          <p:nvPr/>
        </p:nvSpPr>
        <p:spPr>
          <a:xfrm flipH="1">
            <a:off x="4385033" y="3755044"/>
            <a:ext cx="4758967" cy="1847747"/>
          </a:xfrm>
          <a:prstGeom prst="line">
            <a:avLst/>
          </a:prstGeom>
          <a:ln w="38100" cap="flat">
            <a:solidFill>
              <a:srgbClr val="AA3C47"/>
            </a:solidFill>
            <a:prstDash val="solid"/>
            <a:headEnd type="none" w="sm" len="sm"/>
            <a:tailEnd type="arrow" w="med" len="sm"/>
          </a:ln>
        </p:spPr>
        <p:txBody>
          <a:bodyPr/>
          <a:lstStyle/>
          <a:p>
            <a:endParaRPr lang="es-ES"/>
          </a:p>
        </p:txBody>
      </p:sp>
      <p:sp>
        <p:nvSpPr>
          <p:cNvPr id="9" name="AutoShape 9"/>
          <p:cNvSpPr/>
          <p:nvPr/>
        </p:nvSpPr>
        <p:spPr>
          <a:xfrm flipH="1">
            <a:off x="7252269" y="3755044"/>
            <a:ext cx="1891731" cy="1838358"/>
          </a:xfrm>
          <a:prstGeom prst="line">
            <a:avLst/>
          </a:prstGeom>
          <a:ln w="38100" cap="flat">
            <a:solidFill>
              <a:srgbClr val="AA3C47"/>
            </a:solidFill>
            <a:prstDash val="solid"/>
            <a:headEnd type="none" w="sm" len="sm"/>
            <a:tailEnd type="arrow" w="med" len="sm"/>
          </a:ln>
        </p:spPr>
        <p:txBody>
          <a:bodyPr/>
          <a:lstStyle/>
          <a:p>
            <a:endParaRPr lang="es-ES"/>
          </a:p>
        </p:txBody>
      </p:sp>
      <p:sp>
        <p:nvSpPr>
          <p:cNvPr id="10" name="AutoShape 10"/>
          <p:cNvSpPr/>
          <p:nvPr/>
        </p:nvSpPr>
        <p:spPr>
          <a:xfrm>
            <a:off x="9144000" y="3755044"/>
            <a:ext cx="636952" cy="1847747"/>
          </a:xfrm>
          <a:prstGeom prst="line">
            <a:avLst/>
          </a:prstGeom>
          <a:ln w="38100" cap="flat">
            <a:solidFill>
              <a:srgbClr val="AA3C47"/>
            </a:solidFill>
            <a:prstDash val="solid"/>
            <a:headEnd type="none" w="sm" len="sm"/>
            <a:tailEnd type="arrow" w="med" len="sm"/>
          </a:ln>
        </p:spPr>
        <p:txBody>
          <a:bodyPr/>
          <a:lstStyle/>
          <a:p>
            <a:endParaRPr lang="es-ES"/>
          </a:p>
        </p:txBody>
      </p:sp>
      <p:sp>
        <p:nvSpPr>
          <p:cNvPr id="11" name="AutoShape 11"/>
          <p:cNvSpPr/>
          <p:nvPr/>
        </p:nvSpPr>
        <p:spPr>
          <a:xfrm>
            <a:off x="9144000" y="3755044"/>
            <a:ext cx="3539070" cy="1852202"/>
          </a:xfrm>
          <a:prstGeom prst="line">
            <a:avLst/>
          </a:prstGeom>
          <a:ln w="38100" cap="flat">
            <a:solidFill>
              <a:srgbClr val="AA3C47"/>
            </a:solidFill>
            <a:prstDash val="solid"/>
            <a:headEnd type="none" w="sm" len="sm"/>
            <a:tailEnd type="arrow" w="med" len="sm"/>
          </a:ln>
        </p:spPr>
        <p:txBody>
          <a:bodyPr/>
          <a:lstStyle/>
          <a:p>
            <a:endParaRPr lang="es-ES"/>
          </a:p>
        </p:txBody>
      </p:sp>
      <p:sp>
        <p:nvSpPr>
          <p:cNvPr id="12" name="Freeform 12"/>
          <p:cNvSpPr/>
          <p:nvPr/>
        </p:nvSpPr>
        <p:spPr>
          <a:xfrm>
            <a:off x="14531676" y="5445321"/>
            <a:ext cx="2951107" cy="3812979"/>
          </a:xfrm>
          <a:custGeom>
            <a:avLst/>
            <a:gdLst/>
            <a:ahLst/>
            <a:cxnLst/>
            <a:rect l="l" t="t" r="r" b="b"/>
            <a:pathLst>
              <a:path w="2951107" h="4098760">
                <a:moveTo>
                  <a:pt x="0" y="0"/>
                </a:moveTo>
                <a:lnTo>
                  <a:pt x="2951107" y="0"/>
                </a:lnTo>
                <a:lnTo>
                  <a:pt x="2951107" y="4098760"/>
                </a:lnTo>
                <a:lnTo>
                  <a:pt x="0" y="4098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ES"/>
          </a:p>
        </p:txBody>
      </p:sp>
      <p:sp>
        <p:nvSpPr>
          <p:cNvPr id="13" name="AutoShape 13"/>
          <p:cNvSpPr/>
          <p:nvPr/>
        </p:nvSpPr>
        <p:spPr>
          <a:xfrm>
            <a:off x="9144000" y="3755044"/>
            <a:ext cx="6863230" cy="1690277"/>
          </a:xfrm>
          <a:prstGeom prst="line">
            <a:avLst/>
          </a:prstGeom>
          <a:ln w="38100" cap="flat">
            <a:solidFill>
              <a:srgbClr val="AA3C47"/>
            </a:solidFill>
            <a:prstDash val="solid"/>
            <a:headEnd type="none" w="sm" len="sm"/>
            <a:tailEnd type="arrow" w="med" len="sm"/>
          </a:ln>
        </p:spPr>
        <p:txBody>
          <a:bodyPr/>
          <a:lstStyle/>
          <a:p>
            <a:endParaRPr lang="es-ES"/>
          </a:p>
        </p:txBody>
      </p:sp>
      <p:sp>
        <p:nvSpPr>
          <p:cNvPr id="14" name="TextBox 14"/>
          <p:cNvSpPr txBox="1"/>
          <p:nvPr/>
        </p:nvSpPr>
        <p:spPr>
          <a:xfrm>
            <a:off x="676946" y="5578671"/>
            <a:ext cx="2379166" cy="327025"/>
          </a:xfrm>
          <a:prstGeom prst="rect">
            <a:avLst/>
          </a:prstGeom>
        </p:spPr>
        <p:txBody>
          <a:bodyPr lIns="0" tIns="0" rIns="0" bIns="0" rtlCol="0" anchor="t">
            <a:spAutoFit/>
          </a:bodyPr>
          <a:lstStyle/>
          <a:p>
            <a:pPr algn="ctr">
              <a:lnSpc>
                <a:spcPts val="2600"/>
              </a:lnSpc>
              <a:spcBef>
                <a:spcPct val="0"/>
              </a:spcBef>
            </a:pPr>
            <a:r>
              <a:rPr lang="en-US" sz="2000" dirty="0" err="1">
                <a:solidFill>
                  <a:srgbClr val="191919"/>
                </a:solidFill>
                <a:latin typeface="Open Sauce"/>
                <a:ea typeface="Open Sauce"/>
                <a:cs typeface="Open Sauce"/>
                <a:sym typeface="Open Sauce"/>
              </a:rPr>
              <a:t>Ingeniero</a:t>
            </a:r>
            <a:r>
              <a:rPr lang="en-US" sz="2000" dirty="0">
                <a:solidFill>
                  <a:srgbClr val="191919"/>
                </a:solidFill>
                <a:latin typeface="Open Sauce"/>
                <a:ea typeface="Open Sauce"/>
                <a:cs typeface="Open Sauce"/>
                <a:sym typeface="Open Sauce"/>
              </a:rPr>
              <a:t> 1</a:t>
            </a:r>
          </a:p>
        </p:txBody>
      </p:sp>
      <p:sp>
        <p:nvSpPr>
          <p:cNvPr id="15" name="TextBox 15"/>
          <p:cNvSpPr txBox="1"/>
          <p:nvPr/>
        </p:nvSpPr>
        <p:spPr>
          <a:xfrm>
            <a:off x="600460" y="7344594"/>
            <a:ext cx="2379166" cy="327025"/>
          </a:xfrm>
          <a:prstGeom prst="rect">
            <a:avLst/>
          </a:prstGeom>
        </p:spPr>
        <p:txBody>
          <a:bodyPr lIns="0" tIns="0" rIns="0" bIns="0" rtlCol="0" anchor="t">
            <a:spAutoFit/>
          </a:bodyPr>
          <a:lstStyle/>
          <a:p>
            <a:pPr algn="ctr">
              <a:lnSpc>
                <a:spcPts val="2600"/>
              </a:lnSpc>
              <a:spcBef>
                <a:spcPct val="0"/>
              </a:spcBef>
            </a:pPr>
            <a:r>
              <a:rPr lang="en-US" sz="2000" dirty="0" err="1">
                <a:solidFill>
                  <a:srgbClr val="191919"/>
                </a:solidFill>
                <a:latin typeface="Open Sauce"/>
                <a:ea typeface="Open Sauce"/>
                <a:cs typeface="Open Sauce"/>
                <a:sym typeface="Open Sauce"/>
              </a:rPr>
              <a:t>Ingeniero</a:t>
            </a:r>
            <a:r>
              <a:rPr lang="en-US" sz="2000" dirty="0">
                <a:solidFill>
                  <a:srgbClr val="191919"/>
                </a:solidFill>
                <a:latin typeface="Open Sauce"/>
                <a:ea typeface="Open Sauce"/>
                <a:cs typeface="Open Sauce"/>
                <a:sym typeface="Open Sauce"/>
              </a:rPr>
              <a:t> 2</a:t>
            </a:r>
          </a:p>
        </p:txBody>
      </p:sp>
      <p:sp>
        <p:nvSpPr>
          <p:cNvPr id="16" name="TextBox 16"/>
          <p:cNvSpPr txBox="1"/>
          <p:nvPr/>
        </p:nvSpPr>
        <p:spPr>
          <a:xfrm>
            <a:off x="3220304" y="5574216"/>
            <a:ext cx="2329458" cy="327025"/>
          </a:xfrm>
          <a:prstGeom prst="rect">
            <a:avLst/>
          </a:prstGeom>
        </p:spPr>
        <p:txBody>
          <a:bodyPr lIns="0" tIns="0" rIns="0" bIns="0" rtlCol="0" anchor="t">
            <a:spAutoFit/>
          </a:bodyPr>
          <a:lstStyle/>
          <a:p>
            <a:pPr algn="ctr">
              <a:lnSpc>
                <a:spcPts val="2600"/>
              </a:lnSpc>
              <a:spcBef>
                <a:spcPct val="0"/>
              </a:spcBef>
            </a:pPr>
            <a:r>
              <a:rPr lang="en-US" sz="2000">
                <a:solidFill>
                  <a:srgbClr val="191919"/>
                </a:solidFill>
                <a:latin typeface="Open Sauce"/>
                <a:ea typeface="Open Sauce"/>
                <a:cs typeface="Open Sauce"/>
                <a:sym typeface="Open Sauce"/>
              </a:rPr>
              <a:t>Técnico en Drones</a:t>
            </a:r>
          </a:p>
        </p:txBody>
      </p:sp>
      <p:sp>
        <p:nvSpPr>
          <p:cNvPr id="17" name="TextBox 17"/>
          <p:cNvSpPr txBox="1"/>
          <p:nvPr/>
        </p:nvSpPr>
        <p:spPr>
          <a:xfrm>
            <a:off x="5970934" y="5564827"/>
            <a:ext cx="2562671" cy="650875"/>
          </a:xfrm>
          <a:prstGeom prst="rect">
            <a:avLst/>
          </a:prstGeom>
        </p:spPr>
        <p:txBody>
          <a:bodyPr lIns="0" tIns="0" rIns="0" bIns="0" rtlCol="0" anchor="t">
            <a:spAutoFit/>
          </a:bodyPr>
          <a:lstStyle/>
          <a:p>
            <a:pPr algn="ctr">
              <a:lnSpc>
                <a:spcPts val="2600"/>
              </a:lnSpc>
              <a:spcBef>
                <a:spcPct val="0"/>
              </a:spcBef>
            </a:pPr>
            <a:r>
              <a:rPr lang="en-US" sz="2000">
                <a:solidFill>
                  <a:srgbClr val="191919"/>
                </a:solidFill>
                <a:latin typeface="Open Sauce"/>
                <a:ea typeface="Open Sauce"/>
                <a:cs typeface="Open Sauce"/>
                <a:sym typeface="Open Sauce"/>
              </a:rPr>
              <a:t>Desarrollador de Software 1</a:t>
            </a:r>
          </a:p>
        </p:txBody>
      </p:sp>
      <p:sp>
        <p:nvSpPr>
          <p:cNvPr id="18" name="TextBox 18"/>
          <p:cNvSpPr txBox="1"/>
          <p:nvPr/>
        </p:nvSpPr>
        <p:spPr>
          <a:xfrm>
            <a:off x="6042575" y="7154094"/>
            <a:ext cx="2562671" cy="650875"/>
          </a:xfrm>
          <a:prstGeom prst="rect">
            <a:avLst/>
          </a:prstGeom>
        </p:spPr>
        <p:txBody>
          <a:bodyPr lIns="0" tIns="0" rIns="0" bIns="0" rtlCol="0" anchor="t">
            <a:spAutoFit/>
          </a:bodyPr>
          <a:lstStyle/>
          <a:p>
            <a:pPr algn="ctr">
              <a:lnSpc>
                <a:spcPts val="2600"/>
              </a:lnSpc>
              <a:spcBef>
                <a:spcPct val="0"/>
              </a:spcBef>
            </a:pPr>
            <a:r>
              <a:rPr lang="en-US" sz="2000" dirty="0" err="1">
                <a:solidFill>
                  <a:srgbClr val="191919"/>
                </a:solidFill>
                <a:latin typeface="Open Sauce"/>
                <a:ea typeface="Open Sauce"/>
                <a:cs typeface="Open Sauce"/>
                <a:sym typeface="Open Sauce"/>
              </a:rPr>
              <a:t>Desarrollador</a:t>
            </a:r>
            <a:r>
              <a:rPr lang="en-US" sz="2000" dirty="0">
                <a:solidFill>
                  <a:srgbClr val="191919"/>
                </a:solidFill>
                <a:latin typeface="Open Sauce"/>
                <a:ea typeface="Open Sauce"/>
                <a:cs typeface="Open Sauce"/>
                <a:sym typeface="Open Sauce"/>
              </a:rPr>
              <a:t> de Software 2</a:t>
            </a:r>
          </a:p>
        </p:txBody>
      </p:sp>
      <p:sp>
        <p:nvSpPr>
          <p:cNvPr id="19" name="TextBox 19"/>
          <p:cNvSpPr txBox="1"/>
          <p:nvPr/>
        </p:nvSpPr>
        <p:spPr>
          <a:xfrm>
            <a:off x="8870893" y="5574216"/>
            <a:ext cx="1774498" cy="309059"/>
          </a:xfrm>
          <a:prstGeom prst="rect">
            <a:avLst/>
          </a:prstGeom>
        </p:spPr>
        <p:txBody>
          <a:bodyPr wrap="square" lIns="0" tIns="0" rIns="0" bIns="0" rtlCol="0" anchor="t">
            <a:spAutoFit/>
          </a:bodyPr>
          <a:lstStyle/>
          <a:p>
            <a:pPr algn="ctr">
              <a:lnSpc>
                <a:spcPts val="2600"/>
              </a:lnSpc>
              <a:spcBef>
                <a:spcPct val="0"/>
              </a:spcBef>
            </a:pPr>
            <a:r>
              <a:rPr lang="en-US" sz="2000" dirty="0" err="1">
                <a:solidFill>
                  <a:srgbClr val="191919"/>
                </a:solidFill>
                <a:latin typeface="Open Sauce"/>
                <a:ea typeface="Open Sauce"/>
                <a:cs typeface="Open Sauce"/>
                <a:sym typeface="Open Sauce"/>
              </a:rPr>
              <a:t>Experto</a:t>
            </a:r>
            <a:r>
              <a:rPr lang="en-US" sz="2000" dirty="0">
                <a:solidFill>
                  <a:srgbClr val="191919"/>
                </a:solidFill>
                <a:latin typeface="Open Sauce"/>
                <a:ea typeface="Open Sauce"/>
                <a:cs typeface="Open Sauce"/>
                <a:sym typeface="Open Sauce"/>
              </a:rPr>
              <a:t> </a:t>
            </a:r>
            <a:r>
              <a:rPr lang="en-US" sz="2000" dirty="0" err="1">
                <a:solidFill>
                  <a:srgbClr val="191919"/>
                </a:solidFill>
                <a:latin typeface="Open Sauce"/>
                <a:ea typeface="Open Sauce"/>
                <a:cs typeface="Open Sauce"/>
                <a:sym typeface="Open Sauce"/>
              </a:rPr>
              <a:t>en</a:t>
            </a:r>
            <a:r>
              <a:rPr lang="en-US" sz="2000" dirty="0">
                <a:solidFill>
                  <a:srgbClr val="191919"/>
                </a:solidFill>
                <a:latin typeface="Open Sauce"/>
                <a:ea typeface="Open Sauce"/>
                <a:cs typeface="Open Sauce"/>
                <a:sym typeface="Open Sauce"/>
              </a:rPr>
              <a:t> IA</a:t>
            </a:r>
          </a:p>
        </p:txBody>
      </p:sp>
      <p:sp>
        <p:nvSpPr>
          <p:cNvPr id="20" name="TextBox 20"/>
          <p:cNvSpPr txBox="1"/>
          <p:nvPr/>
        </p:nvSpPr>
        <p:spPr>
          <a:xfrm>
            <a:off x="11572723" y="5582292"/>
            <a:ext cx="2245370" cy="327025"/>
          </a:xfrm>
          <a:prstGeom prst="rect">
            <a:avLst/>
          </a:prstGeom>
        </p:spPr>
        <p:txBody>
          <a:bodyPr lIns="0" tIns="0" rIns="0" bIns="0" rtlCol="0" anchor="t">
            <a:spAutoFit/>
          </a:bodyPr>
          <a:lstStyle/>
          <a:p>
            <a:pPr algn="ctr">
              <a:lnSpc>
                <a:spcPts val="2600"/>
              </a:lnSpc>
              <a:spcBef>
                <a:spcPct val="0"/>
              </a:spcBef>
            </a:pPr>
            <a:r>
              <a:rPr lang="en-US" sz="2000" dirty="0" err="1">
                <a:solidFill>
                  <a:srgbClr val="191919"/>
                </a:solidFill>
                <a:latin typeface="Open Sauce"/>
                <a:ea typeface="Open Sauce"/>
                <a:cs typeface="Open Sauce"/>
                <a:sym typeface="Open Sauce"/>
              </a:rPr>
              <a:t>Soporte</a:t>
            </a:r>
            <a:r>
              <a:rPr lang="en-US" sz="2000" dirty="0">
                <a:solidFill>
                  <a:srgbClr val="191919"/>
                </a:solidFill>
                <a:latin typeface="Open Sauce"/>
                <a:ea typeface="Open Sauce"/>
                <a:cs typeface="Open Sauce"/>
                <a:sym typeface="Open Sauce"/>
              </a:rPr>
              <a:t> Técnico 1</a:t>
            </a:r>
          </a:p>
        </p:txBody>
      </p:sp>
      <p:sp>
        <p:nvSpPr>
          <p:cNvPr id="21" name="TextBox 21"/>
          <p:cNvSpPr txBox="1"/>
          <p:nvPr/>
        </p:nvSpPr>
        <p:spPr>
          <a:xfrm>
            <a:off x="11575074" y="7361060"/>
            <a:ext cx="2299692" cy="327025"/>
          </a:xfrm>
          <a:prstGeom prst="rect">
            <a:avLst/>
          </a:prstGeom>
        </p:spPr>
        <p:txBody>
          <a:bodyPr lIns="0" tIns="0" rIns="0" bIns="0" rtlCol="0" anchor="t">
            <a:spAutoFit/>
          </a:bodyPr>
          <a:lstStyle/>
          <a:p>
            <a:pPr algn="ctr">
              <a:lnSpc>
                <a:spcPts val="2600"/>
              </a:lnSpc>
              <a:spcBef>
                <a:spcPct val="0"/>
              </a:spcBef>
            </a:pPr>
            <a:r>
              <a:rPr lang="en-US" sz="2000" dirty="0" err="1">
                <a:solidFill>
                  <a:srgbClr val="191919"/>
                </a:solidFill>
                <a:latin typeface="Open Sauce"/>
                <a:ea typeface="Open Sauce"/>
                <a:cs typeface="Open Sauce"/>
                <a:sym typeface="Open Sauce"/>
              </a:rPr>
              <a:t>Soporte</a:t>
            </a:r>
            <a:r>
              <a:rPr lang="en-US" sz="2000" dirty="0">
                <a:solidFill>
                  <a:srgbClr val="191919"/>
                </a:solidFill>
                <a:latin typeface="Open Sauce"/>
                <a:ea typeface="Open Sauce"/>
                <a:cs typeface="Open Sauce"/>
                <a:sym typeface="Open Sauce"/>
              </a:rPr>
              <a:t> Técnico 2</a:t>
            </a:r>
          </a:p>
        </p:txBody>
      </p:sp>
      <p:sp>
        <p:nvSpPr>
          <p:cNvPr id="22" name="TextBox 22"/>
          <p:cNvSpPr txBox="1"/>
          <p:nvPr/>
        </p:nvSpPr>
        <p:spPr>
          <a:xfrm>
            <a:off x="14574801" y="5574217"/>
            <a:ext cx="2907982" cy="309059"/>
          </a:xfrm>
          <a:prstGeom prst="rect">
            <a:avLst/>
          </a:prstGeom>
        </p:spPr>
        <p:txBody>
          <a:bodyPr wrap="square" lIns="0" tIns="0" rIns="0" bIns="0" rtlCol="0" anchor="t">
            <a:spAutoFit/>
          </a:bodyPr>
          <a:lstStyle/>
          <a:p>
            <a:pPr algn="ctr">
              <a:lnSpc>
                <a:spcPts val="2600"/>
              </a:lnSpc>
              <a:spcBef>
                <a:spcPct val="0"/>
              </a:spcBef>
            </a:pPr>
            <a:r>
              <a:rPr lang="en-US" sz="2000" dirty="0" err="1">
                <a:solidFill>
                  <a:srgbClr val="191919"/>
                </a:solidFill>
                <a:latin typeface="Open Sauce"/>
                <a:ea typeface="Open Sauce"/>
                <a:cs typeface="Open Sauce"/>
                <a:sym typeface="Open Sauce"/>
              </a:rPr>
              <a:t>Atención</a:t>
            </a:r>
            <a:r>
              <a:rPr lang="en-US" sz="2000" dirty="0">
                <a:solidFill>
                  <a:srgbClr val="191919"/>
                </a:solidFill>
                <a:latin typeface="Open Sauce"/>
                <a:ea typeface="Open Sauce"/>
                <a:cs typeface="Open Sauce"/>
                <a:sym typeface="Open Sauce"/>
              </a:rPr>
              <a:t> al </a:t>
            </a:r>
            <a:r>
              <a:rPr lang="en-US" sz="2000" dirty="0" err="1">
                <a:solidFill>
                  <a:srgbClr val="191919"/>
                </a:solidFill>
                <a:latin typeface="Open Sauce"/>
                <a:ea typeface="Open Sauce"/>
                <a:cs typeface="Open Sauce"/>
                <a:sym typeface="Open Sauce"/>
              </a:rPr>
              <a:t>Cliente</a:t>
            </a:r>
            <a:r>
              <a:rPr lang="en-US" sz="2000" dirty="0">
                <a:solidFill>
                  <a:srgbClr val="191919"/>
                </a:solidFill>
                <a:latin typeface="Open Sauce"/>
                <a:ea typeface="Open Sauce"/>
                <a:cs typeface="Open Sauce"/>
                <a:sym typeface="Open Sauce"/>
              </a:rPr>
              <a:t> 1</a:t>
            </a:r>
          </a:p>
        </p:txBody>
      </p:sp>
      <p:sp>
        <p:nvSpPr>
          <p:cNvPr id="23" name="TextBox 23"/>
          <p:cNvSpPr txBox="1"/>
          <p:nvPr/>
        </p:nvSpPr>
        <p:spPr>
          <a:xfrm>
            <a:off x="14630362" y="6577516"/>
            <a:ext cx="2852421" cy="309059"/>
          </a:xfrm>
          <a:prstGeom prst="rect">
            <a:avLst/>
          </a:prstGeom>
        </p:spPr>
        <p:txBody>
          <a:bodyPr wrap="square" lIns="0" tIns="0" rIns="0" bIns="0" rtlCol="0" anchor="t">
            <a:spAutoFit/>
          </a:bodyPr>
          <a:lstStyle/>
          <a:p>
            <a:pPr algn="ctr">
              <a:lnSpc>
                <a:spcPts val="2600"/>
              </a:lnSpc>
              <a:spcBef>
                <a:spcPct val="0"/>
              </a:spcBef>
            </a:pPr>
            <a:r>
              <a:rPr lang="en-US" sz="2000" dirty="0" err="1">
                <a:solidFill>
                  <a:srgbClr val="191919"/>
                </a:solidFill>
                <a:latin typeface="Open Sauce"/>
                <a:ea typeface="Open Sauce"/>
                <a:cs typeface="Open Sauce"/>
                <a:sym typeface="Open Sauce"/>
              </a:rPr>
              <a:t>Atención</a:t>
            </a:r>
            <a:r>
              <a:rPr lang="en-US" sz="2000" dirty="0">
                <a:solidFill>
                  <a:srgbClr val="191919"/>
                </a:solidFill>
                <a:latin typeface="Open Sauce"/>
                <a:ea typeface="Open Sauce"/>
                <a:cs typeface="Open Sauce"/>
                <a:sym typeface="Open Sauce"/>
              </a:rPr>
              <a:t> al </a:t>
            </a:r>
            <a:r>
              <a:rPr lang="en-US" sz="2000" dirty="0" err="1">
                <a:solidFill>
                  <a:srgbClr val="191919"/>
                </a:solidFill>
                <a:latin typeface="Open Sauce"/>
                <a:ea typeface="Open Sauce"/>
                <a:cs typeface="Open Sauce"/>
                <a:sym typeface="Open Sauce"/>
              </a:rPr>
              <a:t>Cliente</a:t>
            </a:r>
            <a:r>
              <a:rPr lang="en-US" sz="2000" dirty="0">
                <a:solidFill>
                  <a:srgbClr val="191919"/>
                </a:solidFill>
                <a:latin typeface="Open Sauce"/>
                <a:ea typeface="Open Sauce"/>
                <a:cs typeface="Open Sauce"/>
                <a:sym typeface="Open Sauce"/>
              </a:rPr>
              <a:t> 2</a:t>
            </a:r>
          </a:p>
        </p:txBody>
      </p:sp>
      <p:sp>
        <p:nvSpPr>
          <p:cNvPr id="24" name="TextBox 24"/>
          <p:cNvSpPr txBox="1"/>
          <p:nvPr/>
        </p:nvSpPr>
        <p:spPr>
          <a:xfrm>
            <a:off x="14574801" y="7627169"/>
            <a:ext cx="2852421" cy="309059"/>
          </a:xfrm>
          <a:prstGeom prst="rect">
            <a:avLst/>
          </a:prstGeom>
        </p:spPr>
        <p:txBody>
          <a:bodyPr wrap="square" lIns="0" tIns="0" rIns="0" bIns="0" rtlCol="0" anchor="t">
            <a:spAutoFit/>
          </a:bodyPr>
          <a:lstStyle/>
          <a:p>
            <a:pPr algn="ctr">
              <a:lnSpc>
                <a:spcPts val="2600"/>
              </a:lnSpc>
              <a:spcBef>
                <a:spcPct val="0"/>
              </a:spcBef>
            </a:pPr>
            <a:r>
              <a:rPr lang="en-US" sz="2000" dirty="0" err="1">
                <a:solidFill>
                  <a:srgbClr val="191919"/>
                </a:solidFill>
                <a:latin typeface="Open Sauce"/>
                <a:ea typeface="Open Sauce"/>
                <a:cs typeface="Open Sauce"/>
                <a:sym typeface="Open Sauce"/>
              </a:rPr>
              <a:t>Atención</a:t>
            </a:r>
            <a:r>
              <a:rPr lang="en-US" sz="2000" dirty="0">
                <a:solidFill>
                  <a:srgbClr val="191919"/>
                </a:solidFill>
                <a:latin typeface="Open Sauce"/>
                <a:ea typeface="Open Sauce"/>
                <a:cs typeface="Open Sauce"/>
                <a:sym typeface="Open Sauce"/>
              </a:rPr>
              <a:t> al </a:t>
            </a:r>
            <a:r>
              <a:rPr lang="en-US" sz="2000" dirty="0" err="1">
                <a:solidFill>
                  <a:srgbClr val="191919"/>
                </a:solidFill>
                <a:latin typeface="Open Sauce"/>
                <a:ea typeface="Open Sauce"/>
                <a:cs typeface="Open Sauce"/>
                <a:sym typeface="Open Sauce"/>
              </a:rPr>
              <a:t>Cliente</a:t>
            </a:r>
            <a:r>
              <a:rPr lang="en-US" sz="2000" dirty="0">
                <a:solidFill>
                  <a:srgbClr val="191919"/>
                </a:solidFill>
                <a:latin typeface="Open Sauce"/>
                <a:ea typeface="Open Sauce"/>
                <a:cs typeface="Open Sauce"/>
                <a:sym typeface="Open Sauce"/>
              </a:rPr>
              <a:t> 3</a:t>
            </a:r>
          </a:p>
        </p:txBody>
      </p:sp>
      <p:sp>
        <p:nvSpPr>
          <p:cNvPr id="25" name="TextBox 25"/>
          <p:cNvSpPr txBox="1"/>
          <p:nvPr/>
        </p:nvSpPr>
        <p:spPr>
          <a:xfrm>
            <a:off x="14630362" y="8630470"/>
            <a:ext cx="2796860" cy="309059"/>
          </a:xfrm>
          <a:prstGeom prst="rect">
            <a:avLst/>
          </a:prstGeom>
        </p:spPr>
        <p:txBody>
          <a:bodyPr wrap="square" lIns="0" tIns="0" rIns="0" bIns="0" rtlCol="0" anchor="t">
            <a:spAutoFit/>
          </a:bodyPr>
          <a:lstStyle/>
          <a:p>
            <a:pPr algn="ctr">
              <a:lnSpc>
                <a:spcPts val="2600"/>
              </a:lnSpc>
              <a:spcBef>
                <a:spcPct val="0"/>
              </a:spcBef>
            </a:pPr>
            <a:r>
              <a:rPr lang="en-US" sz="2000" dirty="0" err="1">
                <a:solidFill>
                  <a:srgbClr val="191919"/>
                </a:solidFill>
                <a:latin typeface="Open Sauce"/>
                <a:ea typeface="Open Sauce"/>
                <a:cs typeface="Open Sauce"/>
                <a:sym typeface="Open Sauce"/>
              </a:rPr>
              <a:t>Atención</a:t>
            </a:r>
            <a:r>
              <a:rPr lang="en-US" sz="2000" dirty="0">
                <a:solidFill>
                  <a:srgbClr val="191919"/>
                </a:solidFill>
                <a:latin typeface="Open Sauce"/>
                <a:ea typeface="Open Sauce"/>
                <a:cs typeface="Open Sauce"/>
                <a:sym typeface="Open Sauce"/>
              </a:rPr>
              <a:t> al </a:t>
            </a:r>
            <a:r>
              <a:rPr lang="en-US" sz="2000" dirty="0" err="1">
                <a:solidFill>
                  <a:srgbClr val="191919"/>
                </a:solidFill>
                <a:latin typeface="Open Sauce"/>
                <a:ea typeface="Open Sauce"/>
                <a:cs typeface="Open Sauce"/>
                <a:sym typeface="Open Sauce"/>
              </a:rPr>
              <a:t>Cliente</a:t>
            </a:r>
            <a:r>
              <a:rPr lang="en-US" sz="2000" dirty="0">
                <a:solidFill>
                  <a:srgbClr val="191919"/>
                </a:solidFill>
                <a:latin typeface="Open Sauce"/>
                <a:ea typeface="Open Sauce"/>
                <a:cs typeface="Open Sauce"/>
                <a:sym typeface="Open Sauce"/>
              </a:rPr>
              <a:t> 4</a:t>
            </a:r>
          </a:p>
        </p:txBody>
      </p:sp>
      <p:sp>
        <p:nvSpPr>
          <p:cNvPr id="26" name="AutoShape 26"/>
          <p:cNvSpPr/>
          <p:nvPr/>
        </p:nvSpPr>
        <p:spPr>
          <a:xfrm>
            <a:off x="1847486" y="5934900"/>
            <a:ext cx="0" cy="1409694"/>
          </a:xfrm>
          <a:prstGeom prst="line">
            <a:avLst/>
          </a:prstGeom>
          <a:ln w="38100" cap="flat">
            <a:solidFill>
              <a:srgbClr val="AA3C47"/>
            </a:solidFill>
            <a:prstDash val="solid"/>
            <a:headEnd type="none" w="sm" len="sm"/>
            <a:tailEnd type="arrow" w="med" len="sm"/>
          </a:ln>
        </p:spPr>
        <p:txBody>
          <a:bodyPr/>
          <a:lstStyle/>
          <a:p>
            <a:endParaRPr lang="es-ES"/>
          </a:p>
        </p:txBody>
      </p:sp>
      <p:sp>
        <p:nvSpPr>
          <p:cNvPr id="27" name="AutoShape 27"/>
          <p:cNvSpPr/>
          <p:nvPr/>
        </p:nvSpPr>
        <p:spPr>
          <a:xfrm flipH="1">
            <a:off x="7305566" y="6215702"/>
            <a:ext cx="0" cy="924548"/>
          </a:xfrm>
          <a:prstGeom prst="line">
            <a:avLst/>
          </a:prstGeom>
          <a:ln w="38100" cap="flat">
            <a:solidFill>
              <a:srgbClr val="AA3C47"/>
            </a:solidFill>
            <a:prstDash val="solid"/>
            <a:headEnd type="none" w="sm" len="sm"/>
            <a:tailEnd type="arrow" w="med" len="sm"/>
          </a:ln>
        </p:spPr>
        <p:txBody>
          <a:bodyPr/>
          <a:lstStyle/>
          <a:p>
            <a:endParaRPr lang="es-ES"/>
          </a:p>
        </p:txBody>
      </p:sp>
      <p:sp>
        <p:nvSpPr>
          <p:cNvPr id="28" name="AutoShape 28"/>
          <p:cNvSpPr/>
          <p:nvPr/>
        </p:nvSpPr>
        <p:spPr>
          <a:xfrm>
            <a:off x="12724920" y="6050652"/>
            <a:ext cx="0" cy="1296023"/>
          </a:xfrm>
          <a:prstGeom prst="line">
            <a:avLst/>
          </a:prstGeom>
          <a:ln w="38100" cap="flat">
            <a:solidFill>
              <a:srgbClr val="AA3C47"/>
            </a:solidFill>
            <a:prstDash val="solid"/>
            <a:headEnd type="none" w="sm" len="sm"/>
            <a:tailEnd type="arrow" w="med" len="sm"/>
          </a:ln>
        </p:spPr>
        <p:txBody>
          <a:bodyPr/>
          <a:lstStyle/>
          <a:p>
            <a:endParaRPr lang="es-ES"/>
          </a:p>
        </p:txBody>
      </p:sp>
      <p:sp>
        <p:nvSpPr>
          <p:cNvPr id="29" name="TextBox 29"/>
          <p:cNvSpPr txBox="1"/>
          <p:nvPr/>
        </p:nvSpPr>
        <p:spPr>
          <a:xfrm>
            <a:off x="1435992" y="1013300"/>
            <a:ext cx="9397364" cy="1151255"/>
          </a:xfrm>
          <a:prstGeom prst="rect">
            <a:avLst/>
          </a:prstGeom>
        </p:spPr>
        <p:txBody>
          <a:bodyPr lIns="0" tIns="0" rIns="0" bIns="0" rtlCol="0" anchor="t">
            <a:spAutoFit/>
          </a:bodyPr>
          <a:lstStyle/>
          <a:p>
            <a:pPr marL="0" lvl="0" indent="0" algn="l">
              <a:lnSpc>
                <a:spcPts val="9520"/>
              </a:lnSpc>
              <a:spcBef>
                <a:spcPct val="0"/>
              </a:spcBef>
            </a:pPr>
            <a:r>
              <a:rPr lang="en-US" sz="6800" b="1" spc="-136">
                <a:solidFill>
                  <a:srgbClr val="191919"/>
                </a:solidFill>
                <a:latin typeface="Open Sauce Bold"/>
                <a:ea typeface="Open Sauce Bold"/>
                <a:cs typeface="Open Sauce Bold"/>
                <a:sym typeface="Open Sauce Bold"/>
              </a:rPr>
              <a:t>Equipo de Desarrollo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6187287" y="8005607"/>
            <a:ext cx="4201427" cy="420142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B23D44"/>
              </a:solidFill>
              <a:prstDash val="solid"/>
              <a:miter/>
            </a:ln>
          </p:spPr>
          <p:txBody>
            <a:bodyPr/>
            <a:lstStyle/>
            <a:p>
              <a:endParaRPr lang="es-ES"/>
            </a:p>
          </p:txBody>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5" name="Group 5"/>
          <p:cNvGrpSpPr/>
          <p:nvPr/>
        </p:nvGrpSpPr>
        <p:grpSpPr>
          <a:xfrm>
            <a:off x="-232397" y="8005607"/>
            <a:ext cx="3672009" cy="367200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23D44"/>
            </a:solidFill>
            <a:ln w="742950" cap="sq">
              <a:solidFill>
                <a:srgbClr val="B23D44"/>
              </a:solidFill>
              <a:prstDash val="solid"/>
              <a:miter/>
            </a:ln>
          </p:spPr>
          <p:txBody>
            <a:bodyPr/>
            <a:lstStyle/>
            <a:p>
              <a:endParaRPr lang="es-ES"/>
            </a:p>
          </p:txBody>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8" name="Freeform 8"/>
          <p:cNvSpPr/>
          <p:nvPr/>
        </p:nvSpPr>
        <p:spPr>
          <a:xfrm>
            <a:off x="8091230" y="0"/>
            <a:ext cx="6698691" cy="10287000"/>
          </a:xfrm>
          <a:custGeom>
            <a:avLst/>
            <a:gdLst/>
            <a:ahLst/>
            <a:cxnLst/>
            <a:rect l="l" t="t" r="r" b="b"/>
            <a:pathLst>
              <a:path w="6698691" h="10287000">
                <a:moveTo>
                  <a:pt x="0" y="0"/>
                </a:moveTo>
                <a:lnTo>
                  <a:pt x="6698690" y="0"/>
                </a:lnTo>
                <a:lnTo>
                  <a:pt x="6698690" y="10287000"/>
                </a:lnTo>
                <a:lnTo>
                  <a:pt x="0" y="10287000"/>
                </a:lnTo>
                <a:lnTo>
                  <a:pt x="0" y="0"/>
                </a:lnTo>
                <a:close/>
              </a:path>
            </a:pathLst>
          </a:custGeom>
          <a:blipFill>
            <a:blip r:embed="rId2"/>
            <a:stretch>
              <a:fillRect l="-88153" r="-84854"/>
            </a:stretch>
          </a:blipFill>
        </p:spPr>
        <p:txBody>
          <a:bodyPr/>
          <a:lstStyle/>
          <a:p>
            <a:endParaRPr lang="es-ES"/>
          </a:p>
        </p:txBody>
      </p:sp>
      <p:sp>
        <p:nvSpPr>
          <p:cNvPr id="9" name="TextBox 9"/>
          <p:cNvSpPr txBox="1"/>
          <p:nvPr/>
        </p:nvSpPr>
        <p:spPr>
          <a:xfrm>
            <a:off x="2133918" y="2865589"/>
            <a:ext cx="4353439" cy="3551555"/>
          </a:xfrm>
          <a:prstGeom prst="rect">
            <a:avLst/>
          </a:prstGeom>
        </p:spPr>
        <p:txBody>
          <a:bodyPr lIns="0" tIns="0" rIns="0" bIns="0" rtlCol="0" anchor="t">
            <a:spAutoFit/>
          </a:bodyPr>
          <a:lstStyle/>
          <a:p>
            <a:pPr marL="0" lvl="0" indent="0" algn="ctr">
              <a:lnSpc>
                <a:spcPts val="9520"/>
              </a:lnSpc>
              <a:spcBef>
                <a:spcPct val="0"/>
              </a:spcBef>
            </a:pPr>
            <a:r>
              <a:rPr lang="en-US" sz="6800" b="1" spc="-136">
                <a:solidFill>
                  <a:srgbClr val="191919"/>
                </a:solidFill>
                <a:latin typeface="Open Sauce Bold"/>
                <a:ea typeface="Open Sauce Bold"/>
                <a:cs typeface="Open Sauce Bold"/>
                <a:sym typeface="Open Sauce Bold"/>
              </a:rPr>
              <a:t>Desglose del Trabajo</a:t>
            </a:r>
          </a:p>
        </p:txBody>
      </p:sp>
      <p:grpSp>
        <p:nvGrpSpPr>
          <p:cNvPr id="10" name="Group 10"/>
          <p:cNvGrpSpPr/>
          <p:nvPr/>
        </p:nvGrpSpPr>
        <p:grpSpPr>
          <a:xfrm>
            <a:off x="16877304" y="6787038"/>
            <a:ext cx="643662" cy="64366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23D44"/>
            </a:solidFill>
            <a:ln w="742950" cap="sq">
              <a:solidFill>
                <a:srgbClr val="B23D44"/>
              </a:solidFill>
              <a:prstDash val="solid"/>
              <a:miter/>
            </a:ln>
          </p:spPr>
          <p:txBody>
            <a:bodyPr/>
            <a:lstStyle/>
            <a:p>
              <a:endParaRPr lang="es-E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9558093" y="1028700"/>
          <a:ext cx="8322937" cy="8559332"/>
        </p:xfrm>
        <a:graphic>
          <a:graphicData uri="http://schemas.openxmlformats.org/drawingml/2006/table">
            <a:tbl>
              <a:tblPr/>
              <a:tblGrid>
                <a:gridCol w="4198529">
                  <a:extLst>
                    <a:ext uri="{9D8B030D-6E8A-4147-A177-3AD203B41FA5}">
                      <a16:colId xmlns:a16="http://schemas.microsoft.com/office/drawing/2014/main" val="20000"/>
                    </a:ext>
                  </a:extLst>
                </a:gridCol>
                <a:gridCol w="4124408">
                  <a:extLst>
                    <a:ext uri="{9D8B030D-6E8A-4147-A177-3AD203B41FA5}">
                      <a16:colId xmlns:a16="http://schemas.microsoft.com/office/drawing/2014/main" val="20001"/>
                    </a:ext>
                  </a:extLst>
                </a:gridCol>
              </a:tblGrid>
              <a:tr h="812646">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Nombre de la tarea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B23D44"/>
                    </a:solidFill>
                  </a:tcPr>
                </a:tc>
                <a:tc>
                  <a:txBody>
                    <a:bodyPr/>
                    <a:lstStyle/>
                    <a:p>
                      <a:pPr algn="ctr">
                        <a:lnSpc>
                          <a:spcPts val="2800"/>
                        </a:lnSpc>
                        <a:defRPr/>
                      </a:pPr>
                      <a:r>
                        <a:rPr lang="en-US" sz="2000" b="1">
                          <a:solidFill>
                            <a:srgbClr val="000000"/>
                          </a:solidFill>
                          <a:latin typeface="Open Sauce Bold"/>
                          <a:ea typeface="Open Sauce Bold"/>
                          <a:cs typeface="Open Sauce Bold"/>
                          <a:sym typeface="Open Sauce Bold"/>
                        </a:rPr>
                        <a:t>Esfuerzo en horas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B23D44"/>
                    </a:solidFill>
                  </a:tcPr>
                </a:tc>
                <a:extLst>
                  <a:ext uri="{0D108BD9-81ED-4DB2-BD59-A6C34878D82A}">
                    <a16:rowId xmlns:a16="http://schemas.microsoft.com/office/drawing/2014/main" val="10000"/>
                  </a:ext>
                </a:extLst>
              </a:tr>
              <a:tr h="835006">
                <a:tc>
                  <a:txBody>
                    <a:bodyPr/>
                    <a:lstStyle/>
                    <a:p>
                      <a:pPr algn="ctr">
                        <a:lnSpc>
                          <a:spcPts val="2800"/>
                        </a:lnSpc>
                        <a:defRPr/>
                      </a:pPr>
                      <a:r>
                        <a:rPr lang="en-US" sz="2000">
                          <a:solidFill>
                            <a:srgbClr val="000000"/>
                          </a:solidFill>
                          <a:latin typeface="Open Sauce"/>
                          <a:ea typeface="Open Sauce"/>
                          <a:cs typeface="Open Sauce"/>
                          <a:sym typeface="Open Sauce"/>
                        </a:rPr>
                        <a:t>Planificación y gestión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176h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23367">
                <a:tc>
                  <a:txBody>
                    <a:bodyPr/>
                    <a:lstStyle/>
                    <a:p>
                      <a:pPr algn="ctr">
                        <a:lnSpc>
                          <a:spcPts val="2800"/>
                        </a:lnSpc>
                        <a:defRPr/>
                      </a:pPr>
                      <a:r>
                        <a:rPr lang="en-US" sz="2000">
                          <a:solidFill>
                            <a:srgbClr val="000000"/>
                          </a:solidFill>
                          <a:latin typeface="Open Sauce"/>
                          <a:ea typeface="Open Sauce"/>
                          <a:cs typeface="Open Sauce"/>
                          <a:sym typeface="Open Sauce"/>
                        </a:rPr>
                        <a:t>Prototipo inicial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280h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23367">
                <a:tc>
                  <a:txBody>
                    <a:bodyPr/>
                    <a:lstStyle/>
                    <a:p>
                      <a:pPr algn="ctr">
                        <a:lnSpc>
                          <a:spcPts val="2800"/>
                        </a:lnSpc>
                        <a:defRPr/>
                      </a:pPr>
                      <a:r>
                        <a:rPr lang="en-US" sz="2000">
                          <a:solidFill>
                            <a:srgbClr val="000000"/>
                          </a:solidFill>
                          <a:latin typeface="Open Sauce"/>
                          <a:ea typeface="Open Sauce"/>
                          <a:cs typeface="Open Sauce"/>
                          <a:sym typeface="Open Sauce"/>
                        </a:rPr>
                        <a:t>Desarrollo hardware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524h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23367">
                <a:tc>
                  <a:txBody>
                    <a:bodyPr/>
                    <a:lstStyle/>
                    <a:p>
                      <a:pPr algn="ctr">
                        <a:lnSpc>
                          <a:spcPts val="2800"/>
                        </a:lnSpc>
                        <a:defRPr/>
                      </a:pPr>
                      <a:r>
                        <a:rPr lang="en-US" sz="2000">
                          <a:solidFill>
                            <a:srgbClr val="000000"/>
                          </a:solidFill>
                          <a:latin typeface="Open Sauce"/>
                          <a:ea typeface="Open Sauce"/>
                          <a:cs typeface="Open Sauce"/>
                          <a:sym typeface="Open Sauce"/>
                        </a:rPr>
                        <a:t>Desarrollo sofware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880h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3367">
                <a:tc>
                  <a:txBody>
                    <a:bodyPr/>
                    <a:lstStyle/>
                    <a:p>
                      <a:pPr algn="ctr">
                        <a:lnSpc>
                          <a:spcPts val="2800"/>
                        </a:lnSpc>
                        <a:defRPr/>
                      </a:pPr>
                      <a:r>
                        <a:rPr lang="en-US" sz="2000">
                          <a:solidFill>
                            <a:srgbClr val="000000"/>
                          </a:solidFill>
                          <a:latin typeface="Open Sauce"/>
                          <a:ea typeface="Open Sauce"/>
                          <a:cs typeface="Open Sauce"/>
                          <a:sym typeface="Open Sauce"/>
                        </a:rPr>
                        <a:t>Diseño final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80h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23367">
                <a:tc>
                  <a:txBody>
                    <a:bodyPr/>
                    <a:lstStyle/>
                    <a:p>
                      <a:pPr algn="ctr">
                        <a:lnSpc>
                          <a:spcPts val="2800"/>
                        </a:lnSpc>
                        <a:defRPr/>
                      </a:pPr>
                      <a:r>
                        <a:rPr lang="en-US" sz="2000">
                          <a:solidFill>
                            <a:srgbClr val="000000"/>
                          </a:solidFill>
                          <a:latin typeface="Open Sauce"/>
                          <a:ea typeface="Open Sauce"/>
                          <a:cs typeface="Open Sauce"/>
                          <a:sym typeface="Open Sauce"/>
                        </a:rPr>
                        <a:t>Pruebas internas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240h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148111">
                <a:tc>
                  <a:txBody>
                    <a:bodyPr/>
                    <a:lstStyle/>
                    <a:p>
                      <a:pPr algn="ctr">
                        <a:lnSpc>
                          <a:spcPts val="2800"/>
                        </a:lnSpc>
                        <a:defRPr/>
                      </a:pPr>
                      <a:r>
                        <a:rPr lang="en-US" sz="2000">
                          <a:solidFill>
                            <a:srgbClr val="000000"/>
                          </a:solidFill>
                          <a:latin typeface="Open Sauce"/>
                          <a:ea typeface="Open Sauce"/>
                          <a:cs typeface="Open Sauce"/>
                          <a:sym typeface="Open Sauce"/>
                        </a:rPr>
                        <a:t>Lanzamiento de la plataforma digital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484h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823367">
                <a:tc>
                  <a:txBody>
                    <a:bodyPr/>
                    <a:lstStyle/>
                    <a:p>
                      <a:pPr algn="ctr">
                        <a:lnSpc>
                          <a:spcPts val="2800"/>
                        </a:lnSpc>
                        <a:defRPr/>
                      </a:pPr>
                      <a:r>
                        <a:rPr lang="en-US" sz="2000">
                          <a:solidFill>
                            <a:srgbClr val="000000"/>
                          </a:solidFill>
                          <a:latin typeface="Open Sauce"/>
                          <a:ea typeface="Open Sauce"/>
                          <a:cs typeface="Open Sauce"/>
                          <a:sym typeface="Open Sauce"/>
                        </a:rPr>
                        <a:t>Lanzamiento comercial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56h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823367">
                <a:tc>
                  <a:txBody>
                    <a:bodyPr/>
                    <a:lstStyle/>
                    <a:p>
                      <a:pPr algn="ctr">
                        <a:lnSpc>
                          <a:spcPts val="2800"/>
                        </a:lnSpc>
                        <a:defRPr/>
                      </a:pPr>
                      <a:r>
                        <a:rPr lang="en-US" sz="2000">
                          <a:solidFill>
                            <a:srgbClr val="000000"/>
                          </a:solidFill>
                          <a:latin typeface="Open Sauce"/>
                          <a:ea typeface="Open Sauce"/>
                          <a:cs typeface="Open Sauce"/>
                          <a:sym typeface="Open Sauce"/>
                        </a:rPr>
                        <a:t>Actualizaciones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Open Sauce"/>
                          <a:ea typeface="Open Sauce"/>
                          <a:cs typeface="Open Sauce"/>
                          <a:sym typeface="Open Sauce"/>
                        </a:rPr>
                        <a:t>400h</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3" name="TextBox 3"/>
          <p:cNvSpPr txBox="1"/>
          <p:nvPr/>
        </p:nvSpPr>
        <p:spPr>
          <a:xfrm>
            <a:off x="1028700" y="904875"/>
            <a:ext cx="9397364" cy="1151255"/>
          </a:xfrm>
          <a:prstGeom prst="rect">
            <a:avLst/>
          </a:prstGeom>
        </p:spPr>
        <p:txBody>
          <a:bodyPr lIns="0" tIns="0" rIns="0" bIns="0" rtlCol="0" anchor="t">
            <a:spAutoFit/>
          </a:bodyPr>
          <a:lstStyle/>
          <a:p>
            <a:pPr marL="0" lvl="0" indent="0" algn="l">
              <a:lnSpc>
                <a:spcPts val="9520"/>
              </a:lnSpc>
              <a:spcBef>
                <a:spcPct val="0"/>
              </a:spcBef>
            </a:pPr>
            <a:r>
              <a:rPr lang="en-US" sz="6800" b="1" spc="-136">
                <a:solidFill>
                  <a:srgbClr val="191919"/>
                </a:solidFill>
                <a:latin typeface="Open Sauce Bold"/>
                <a:ea typeface="Open Sauce Bold"/>
                <a:cs typeface="Open Sauce Bold"/>
                <a:sym typeface="Open Sauce Bold"/>
              </a:rPr>
              <a:t>Esfuerzo Estimado</a:t>
            </a:r>
          </a:p>
        </p:txBody>
      </p:sp>
      <p:grpSp>
        <p:nvGrpSpPr>
          <p:cNvPr id="4" name="Group 4"/>
          <p:cNvGrpSpPr/>
          <p:nvPr/>
        </p:nvGrpSpPr>
        <p:grpSpPr>
          <a:xfrm>
            <a:off x="-1740663" y="7458075"/>
            <a:ext cx="5538727" cy="5657850"/>
            <a:chOff x="0" y="0"/>
            <a:chExt cx="795687" cy="812800"/>
          </a:xfrm>
        </p:grpSpPr>
        <p:sp>
          <p:nvSpPr>
            <p:cNvPr id="5" name="Freeform 5"/>
            <p:cNvSpPr/>
            <p:nvPr/>
          </p:nvSpPr>
          <p:spPr>
            <a:xfrm>
              <a:off x="0" y="0"/>
              <a:ext cx="795687" cy="812800"/>
            </a:xfrm>
            <a:custGeom>
              <a:avLst/>
              <a:gdLst/>
              <a:ahLst/>
              <a:cxnLst/>
              <a:rect l="l" t="t" r="r" b="b"/>
              <a:pathLst>
                <a:path w="795687" h="812800">
                  <a:moveTo>
                    <a:pt x="397843" y="0"/>
                  </a:moveTo>
                  <a:cubicBezTo>
                    <a:pt x="178121" y="0"/>
                    <a:pt x="0" y="181951"/>
                    <a:pt x="0" y="406400"/>
                  </a:cubicBezTo>
                  <a:cubicBezTo>
                    <a:pt x="0" y="630849"/>
                    <a:pt x="178121" y="812800"/>
                    <a:pt x="397843" y="812800"/>
                  </a:cubicBezTo>
                  <a:cubicBezTo>
                    <a:pt x="617566" y="812800"/>
                    <a:pt x="795687" y="630849"/>
                    <a:pt x="795687" y="406400"/>
                  </a:cubicBezTo>
                  <a:cubicBezTo>
                    <a:pt x="795687" y="181951"/>
                    <a:pt x="617566" y="0"/>
                    <a:pt x="397843" y="0"/>
                  </a:cubicBezTo>
                  <a:close/>
                </a:path>
              </a:pathLst>
            </a:custGeom>
            <a:solidFill>
              <a:srgbClr val="B23D44"/>
            </a:solidFill>
            <a:ln cap="sq">
              <a:noFill/>
              <a:prstDash val="solid"/>
              <a:miter/>
            </a:ln>
          </p:spPr>
          <p:txBody>
            <a:bodyPr/>
            <a:lstStyle/>
            <a:p>
              <a:endParaRPr lang="es-ES"/>
            </a:p>
          </p:txBody>
        </p:sp>
        <p:sp>
          <p:nvSpPr>
            <p:cNvPr id="6" name="TextBox 6"/>
            <p:cNvSpPr txBox="1"/>
            <p:nvPr/>
          </p:nvSpPr>
          <p:spPr>
            <a:xfrm>
              <a:off x="74596" y="57150"/>
              <a:ext cx="646496" cy="67945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7" name="TextBox 7"/>
          <p:cNvSpPr txBox="1"/>
          <p:nvPr/>
        </p:nvSpPr>
        <p:spPr>
          <a:xfrm>
            <a:off x="1028700" y="4040882"/>
            <a:ext cx="6960358" cy="2854267"/>
          </a:xfrm>
          <a:prstGeom prst="rect">
            <a:avLst/>
          </a:prstGeom>
        </p:spPr>
        <p:txBody>
          <a:bodyPr lIns="0" tIns="0" rIns="0" bIns="0" rtlCol="0" anchor="t">
            <a:spAutoFit/>
          </a:bodyPr>
          <a:lstStyle/>
          <a:p>
            <a:pPr algn="ctr">
              <a:lnSpc>
                <a:spcPts val="3255"/>
              </a:lnSpc>
            </a:pPr>
            <a:r>
              <a:rPr lang="en-US" sz="2504">
                <a:solidFill>
                  <a:srgbClr val="191919"/>
                </a:solidFill>
                <a:latin typeface="Open Sauce"/>
                <a:ea typeface="Open Sauce"/>
                <a:cs typeface="Open Sauce"/>
                <a:sym typeface="Open Sauce"/>
              </a:rPr>
              <a:t>Supone un esfuerzo total de 3.120 horas.</a:t>
            </a:r>
          </a:p>
          <a:p>
            <a:pPr algn="ctr">
              <a:lnSpc>
                <a:spcPts val="3255"/>
              </a:lnSpc>
            </a:pPr>
            <a:endParaRPr lang="en-US" sz="2504">
              <a:solidFill>
                <a:srgbClr val="191919"/>
              </a:solidFill>
              <a:latin typeface="Open Sauce"/>
              <a:ea typeface="Open Sauce"/>
              <a:cs typeface="Open Sauce"/>
              <a:sym typeface="Open Sauce"/>
            </a:endParaRPr>
          </a:p>
          <a:p>
            <a:pPr algn="ctr">
              <a:lnSpc>
                <a:spcPts val="3255"/>
              </a:lnSpc>
            </a:pPr>
            <a:r>
              <a:rPr lang="en-US" sz="2504">
                <a:solidFill>
                  <a:srgbClr val="191919"/>
                </a:solidFill>
                <a:latin typeface="Open Sauce"/>
                <a:ea typeface="Open Sauce"/>
                <a:cs typeface="Open Sauce"/>
                <a:sym typeface="Open Sauce"/>
              </a:rPr>
              <a:t>Nos da una media de 346 horas de esfuerzo por tarea.</a:t>
            </a:r>
          </a:p>
          <a:p>
            <a:pPr algn="ctr">
              <a:lnSpc>
                <a:spcPts val="3255"/>
              </a:lnSpc>
            </a:pPr>
            <a:endParaRPr lang="en-US" sz="2504">
              <a:solidFill>
                <a:srgbClr val="191919"/>
              </a:solidFill>
              <a:latin typeface="Open Sauce"/>
              <a:ea typeface="Open Sauce"/>
              <a:cs typeface="Open Sauce"/>
              <a:sym typeface="Open Sauce"/>
            </a:endParaRPr>
          </a:p>
          <a:p>
            <a:pPr algn="ctr">
              <a:lnSpc>
                <a:spcPts val="3255"/>
              </a:lnSpc>
              <a:spcBef>
                <a:spcPct val="0"/>
              </a:spcBef>
            </a:pPr>
            <a:r>
              <a:rPr lang="en-US" sz="2504">
                <a:solidFill>
                  <a:srgbClr val="191919"/>
                </a:solidFill>
                <a:latin typeface="Open Sauce"/>
                <a:ea typeface="Open Sauce"/>
                <a:cs typeface="Open Sauce"/>
                <a:sym typeface="Open Sauce"/>
              </a:rPr>
              <a:t>Gracias a los 13 trabajadores, el proyecto tendrá una duración total de 1.422,97 horas.</a:t>
            </a:r>
          </a:p>
        </p:txBody>
      </p:sp>
      <p:grpSp>
        <p:nvGrpSpPr>
          <p:cNvPr id="8" name="Group 8"/>
          <p:cNvGrpSpPr/>
          <p:nvPr/>
        </p:nvGrpSpPr>
        <p:grpSpPr>
          <a:xfrm>
            <a:off x="4508879" y="8559538"/>
            <a:ext cx="654889" cy="65488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23D44"/>
            </a:solidFill>
            <a:ln cap="sq">
              <a:noFill/>
              <a:prstDash val="solid"/>
              <a:miter/>
            </a:ln>
          </p:spPr>
          <p:txBody>
            <a:bodyPr/>
            <a:lstStyle/>
            <a:p>
              <a:endParaRPr lang="es-ES"/>
            </a:p>
          </p:txBody>
        </p:sp>
        <p:sp>
          <p:nvSpPr>
            <p:cNvPr id="10" name="TextBox 10"/>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729402" y="750222"/>
            <a:ext cx="19746804" cy="10950812"/>
          </a:xfrm>
          <a:prstGeom prst="rect">
            <a:avLst/>
          </a:prstGeom>
        </p:spPr>
      </p:pic>
      <p:sp>
        <p:nvSpPr>
          <p:cNvPr id="3" name="TextBox 3"/>
          <p:cNvSpPr txBox="1"/>
          <p:nvPr/>
        </p:nvSpPr>
        <p:spPr>
          <a:xfrm>
            <a:off x="1028700" y="904875"/>
            <a:ext cx="9397364" cy="1151255"/>
          </a:xfrm>
          <a:prstGeom prst="rect">
            <a:avLst/>
          </a:prstGeom>
        </p:spPr>
        <p:txBody>
          <a:bodyPr lIns="0" tIns="0" rIns="0" bIns="0" rtlCol="0" anchor="t">
            <a:spAutoFit/>
          </a:bodyPr>
          <a:lstStyle/>
          <a:p>
            <a:pPr marL="0" lvl="0" indent="0" algn="l">
              <a:lnSpc>
                <a:spcPts val="9520"/>
              </a:lnSpc>
              <a:spcBef>
                <a:spcPct val="0"/>
              </a:spcBef>
            </a:pPr>
            <a:r>
              <a:rPr lang="en-US" sz="6800" b="1" spc="-136">
                <a:solidFill>
                  <a:srgbClr val="191919"/>
                </a:solidFill>
                <a:latin typeface="Open Sauce Bold"/>
                <a:ea typeface="Open Sauce Bold"/>
                <a:cs typeface="Open Sauce Bold"/>
                <a:sym typeface="Open Sauce Bold"/>
              </a:rPr>
              <a:t>Esfuerzo Estimado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ES"/>
          </a:p>
        </p:txBody>
      </p:sp>
      <p:grpSp>
        <p:nvGrpSpPr>
          <p:cNvPr id="3" name="Group 3"/>
          <p:cNvGrpSpPr/>
          <p:nvPr/>
        </p:nvGrpSpPr>
        <p:grpSpPr>
          <a:xfrm>
            <a:off x="-283622" y="-207989"/>
            <a:ext cx="18817428" cy="10759703"/>
            <a:chOff x="0" y="0"/>
            <a:chExt cx="4956030" cy="2833831"/>
          </a:xfrm>
        </p:grpSpPr>
        <p:sp>
          <p:nvSpPr>
            <p:cNvPr id="4" name="Freeform 4"/>
            <p:cNvSpPr/>
            <p:nvPr/>
          </p:nvSpPr>
          <p:spPr>
            <a:xfrm>
              <a:off x="0" y="0"/>
              <a:ext cx="4956030" cy="2833831"/>
            </a:xfrm>
            <a:custGeom>
              <a:avLst/>
              <a:gdLst/>
              <a:ahLst/>
              <a:cxnLst/>
              <a:rect l="l" t="t" r="r" b="b"/>
              <a:pathLst>
                <a:path w="4956030" h="2833831">
                  <a:moveTo>
                    <a:pt x="10286" y="0"/>
                  </a:moveTo>
                  <a:lnTo>
                    <a:pt x="4945745" y="0"/>
                  </a:lnTo>
                  <a:cubicBezTo>
                    <a:pt x="4948473" y="0"/>
                    <a:pt x="4951089" y="1084"/>
                    <a:pt x="4953018" y="3013"/>
                  </a:cubicBezTo>
                  <a:cubicBezTo>
                    <a:pt x="4954947" y="4941"/>
                    <a:pt x="4956030" y="7558"/>
                    <a:pt x="4956030" y="10286"/>
                  </a:cubicBezTo>
                  <a:lnTo>
                    <a:pt x="4956030" y="2823546"/>
                  </a:lnTo>
                  <a:cubicBezTo>
                    <a:pt x="4956030" y="2826274"/>
                    <a:pt x="4954947" y="2828890"/>
                    <a:pt x="4953018" y="2830819"/>
                  </a:cubicBezTo>
                  <a:cubicBezTo>
                    <a:pt x="4951089" y="2832748"/>
                    <a:pt x="4948473" y="2833831"/>
                    <a:pt x="4945745" y="2833831"/>
                  </a:cubicBezTo>
                  <a:lnTo>
                    <a:pt x="10286" y="2833831"/>
                  </a:lnTo>
                  <a:cubicBezTo>
                    <a:pt x="7558" y="2833831"/>
                    <a:pt x="4941" y="2832748"/>
                    <a:pt x="3013" y="2830819"/>
                  </a:cubicBezTo>
                  <a:cubicBezTo>
                    <a:pt x="1084" y="2828890"/>
                    <a:pt x="0" y="2826274"/>
                    <a:pt x="0" y="2823546"/>
                  </a:cubicBezTo>
                  <a:lnTo>
                    <a:pt x="0" y="10286"/>
                  </a:lnTo>
                  <a:cubicBezTo>
                    <a:pt x="0" y="7558"/>
                    <a:pt x="1084" y="4941"/>
                    <a:pt x="3013" y="3013"/>
                  </a:cubicBezTo>
                  <a:cubicBezTo>
                    <a:pt x="4941" y="1084"/>
                    <a:pt x="7558" y="0"/>
                    <a:pt x="10286" y="0"/>
                  </a:cubicBezTo>
                  <a:close/>
                </a:path>
              </a:pathLst>
            </a:custGeom>
            <a:solidFill>
              <a:srgbClr val="FDFBFB">
                <a:alpha val="98824"/>
              </a:srgbClr>
            </a:solidFill>
            <a:ln cap="rnd">
              <a:noFill/>
              <a:prstDash val="solid"/>
              <a:round/>
            </a:ln>
          </p:spPr>
          <p:txBody>
            <a:bodyPr/>
            <a:lstStyle/>
            <a:p>
              <a:endParaRPr lang="es-ES"/>
            </a:p>
          </p:txBody>
        </p:sp>
        <p:sp>
          <p:nvSpPr>
            <p:cNvPr id="5" name="TextBox 5"/>
            <p:cNvSpPr txBox="1"/>
            <p:nvPr/>
          </p:nvSpPr>
          <p:spPr>
            <a:xfrm>
              <a:off x="0" y="-19050"/>
              <a:ext cx="4956030" cy="2852881"/>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6" name="Freeform 6"/>
          <p:cNvSpPr/>
          <p:nvPr/>
        </p:nvSpPr>
        <p:spPr>
          <a:xfrm rot="-5400000">
            <a:off x="2443459" y="5261939"/>
            <a:ext cx="1015539" cy="2086127"/>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3">
              <a:extLst>
                <a:ext uri="{96DAC541-7B7A-43D3-8B79-37D633B846F1}">
                  <asvg:svgBlip xmlns:asvg="http://schemas.microsoft.com/office/drawing/2016/SVG/main" r:embed="rId4"/>
                </a:ext>
              </a:extLst>
            </a:blip>
            <a:stretch>
              <a:fillRect l="-105420"/>
            </a:stretch>
          </a:blipFill>
          <a:ln cap="sq">
            <a:noFill/>
            <a:prstDash val="solid"/>
            <a:miter/>
          </a:ln>
        </p:spPr>
        <p:txBody>
          <a:bodyPr/>
          <a:lstStyle/>
          <a:p>
            <a:endParaRPr lang="es-ES"/>
          </a:p>
        </p:txBody>
      </p:sp>
      <p:sp>
        <p:nvSpPr>
          <p:cNvPr id="7" name="Freeform 7"/>
          <p:cNvSpPr/>
          <p:nvPr/>
        </p:nvSpPr>
        <p:spPr>
          <a:xfrm rot="-5400000">
            <a:off x="2001983" y="5892084"/>
            <a:ext cx="1841376" cy="1841376"/>
          </a:xfrm>
          <a:custGeom>
            <a:avLst/>
            <a:gdLst/>
            <a:ahLst/>
            <a:cxnLst/>
            <a:rect l="l" t="t" r="r" b="b"/>
            <a:pathLst>
              <a:path w="1841376" h="1841376">
                <a:moveTo>
                  <a:pt x="0" y="0"/>
                </a:moveTo>
                <a:lnTo>
                  <a:pt x="1841376" y="0"/>
                </a:lnTo>
                <a:lnTo>
                  <a:pt x="1841376"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s-ES"/>
          </a:p>
        </p:txBody>
      </p:sp>
      <p:sp>
        <p:nvSpPr>
          <p:cNvPr id="8" name="AutoShape 8"/>
          <p:cNvSpPr/>
          <p:nvPr/>
        </p:nvSpPr>
        <p:spPr>
          <a:xfrm>
            <a:off x="2951228" y="7733460"/>
            <a:ext cx="0" cy="467846"/>
          </a:xfrm>
          <a:prstGeom prst="line">
            <a:avLst/>
          </a:prstGeom>
          <a:ln w="38100" cap="rnd">
            <a:solidFill>
              <a:srgbClr val="B23D44"/>
            </a:solidFill>
            <a:prstDash val="sysDot"/>
            <a:headEnd type="none" w="sm" len="sm"/>
            <a:tailEnd type="oval" w="lg" len="lg"/>
          </a:ln>
        </p:spPr>
        <p:txBody>
          <a:bodyPr/>
          <a:lstStyle/>
          <a:p>
            <a:endParaRPr lang="es-ES"/>
          </a:p>
        </p:txBody>
      </p:sp>
      <p:sp>
        <p:nvSpPr>
          <p:cNvPr id="9" name="Freeform 9"/>
          <p:cNvSpPr/>
          <p:nvPr/>
        </p:nvSpPr>
        <p:spPr>
          <a:xfrm rot="-5400000" flipH="1" flipV="1">
            <a:off x="4503931" y="6277478"/>
            <a:ext cx="1015539" cy="2086127"/>
          </a:xfrm>
          <a:custGeom>
            <a:avLst/>
            <a:gdLst/>
            <a:ahLst/>
            <a:cxnLst/>
            <a:rect l="l" t="t" r="r" b="b"/>
            <a:pathLst>
              <a:path w="1015539" h="2086127">
                <a:moveTo>
                  <a:pt x="1015539" y="2086127"/>
                </a:moveTo>
                <a:lnTo>
                  <a:pt x="0" y="2086127"/>
                </a:lnTo>
                <a:lnTo>
                  <a:pt x="0" y="0"/>
                </a:lnTo>
                <a:lnTo>
                  <a:pt x="1015539" y="0"/>
                </a:lnTo>
                <a:lnTo>
                  <a:pt x="1015539" y="2086127"/>
                </a:lnTo>
                <a:close/>
              </a:path>
            </a:pathLst>
          </a:custGeom>
          <a:blipFill>
            <a:blip r:embed="rId3">
              <a:extLst>
                <a:ext uri="{96DAC541-7B7A-43D3-8B79-37D633B846F1}">
                  <asvg:svgBlip xmlns:asvg="http://schemas.microsoft.com/office/drawing/2016/SVG/main" r:embed="rId4"/>
                </a:ext>
              </a:extLst>
            </a:blip>
            <a:stretch>
              <a:fillRect l="-105420"/>
            </a:stretch>
          </a:blipFill>
        </p:spPr>
        <p:txBody>
          <a:bodyPr/>
          <a:lstStyle/>
          <a:p>
            <a:endParaRPr lang="es-ES"/>
          </a:p>
        </p:txBody>
      </p:sp>
      <p:sp>
        <p:nvSpPr>
          <p:cNvPr id="10" name="Freeform 10"/>
          <p:cNvSpPr/>
          <p:nvPr/>
        </p:nvSpPr>
        <p:spPr>
          <a:xfrm rot="-5400000">
            <a:off x="4091013" y="5892084"/>
            <a:ext cx="1841376" cy="1841376"/>
          </a:xfrm>
          <a:custGeom>
            <a:avLst/>
            <a:gdLst/>
            <a:ahLst/>
            <a:cxnLst/>
            <a:rect l="l" t="t" r="r" b="b"/>
            <a:pathLst>
              <a:path w="1841376" h="1841376">
                <a:moveTo>
                  <a:pt x="0" y="0"/>
                </a:moveTo>
                <a:lnTo>
                  <a:pt x="1841376" y="0"/>
                </a:lnTo>
                <a:lnTo>
                  <a:pt x="1841376"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s-ES"/>
          </a:p>
        </p:txBody>
      </p:sp>
      <p:sp>
        <p:nvSpPr>
          <p:cNvPr id="11" name="AutoShape 11"/>
          <p:cNvSpPr/>
          <p:nvPr/>
        </p:nvSpPr>
        <p:spPr>
          <a:xfrm flipH="1" flipV="1">
            <a:off x="4981022" y="5424060"/>
            <a:ext cx="3218" cy="467835"/>
          </a:xfrm>
          <a:prstGeom prst="line">
            <a:avLst/>
          </a:prstGeom>
          <a:ln w="38100" cap="rnd">
            <a:solidFill>
              <a:srgbClr val="B23D44"/>
            </a:solidFill>
            <a:prstDash val="sysDot"/>
            <a:headEnd type="none" w="sm" len="sm"/>
            <a:tailEnd type="oval" w="lg" len="lg"/>
          </a:ln>
        </p:spPr>
        <p:txBody>
          <a:bodyPr/>
          <a:lstStyle/>
          <a:p>
            <a:endParaRPr lang="es-ES"/>
          </a:p>
        </p:txBody>
      </p:sp>
      <p:sp>
        <p:nvSpPr>
          <p:cNvPr id="12" name="Freeform 12"/>
          <p:cNvSpPr/>
          <p:nvPr/>
        </p:nvSpPr>
        <p:spPr>
          <a:xfrm rot="-5400000">
            <a:off x="6560405" y="5262027"/>
            <a:ext cx="1015539" cy="2086127"/>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3">
              <a:extLst>
                <a:ext uri="{96DAC541-7B7A-43D3-8B79-37D633B846F1}">
                  <asvg:svgBlip xmlns:asvg="http://schemas.microsoft.com/office/drawing/2016/SVG/main" r:embed="rId4"/>
                </a:ext>
              </a:extLst>
            </a:blip>
            <a:stretch>
              <a:fillRect l="-105420"/>
            </a:stretch>
          </a:blipFill>
          <a:ln cap="sq">
            <a:noFill/>
            <a:prstDash val="solid"/>
            <a:miter/>
          </a:ln>
        </p:spPr>
        <p:txBody>
          <a:bodyPr/>
          <a:lstStyle/>
          <a:p>
            <a:endParaRPr lang="es-ES"/>
          </a:p>
        </p:txBody>
      </p:sp>
      <p:sp>
        <p:nvSpPr>
          <p:cNvPr id="13" name="Freeform 13"/>
          <p:cNvSpPr/>
          <p:nvPr/>
        </p:nvSpPr>
        <p:spPr>
          <a:xfrm rot="-5400000">
            <a:off x="6118930" y="5892172"/>
            <a:ext cx="1841376" cy="1841376"/>
          </a:xfrm>
          <a:custGeom>
            <a:avLst/>
            <a:gdLst/>
            <a:ahLst/>
            <a:cxnLst/>
            <a:rect l="l" t="t" r="r" b="b"/>
            <a:pathLst>
              <a:path w="1841376" h="1841376">
                <a:moveTo>
                  <a:pt x="0" y="0"/>
                </a:moveTo>
                <a:lnTo>
                  <a:pt x="1841376" y="0"/>
                </a:lnTo>
                <a:lnTo>
                  <a:pt x="1841376"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s-ES"/>
          </a:p>
        </p:txBody>
      </p:sp>
      <p:sp>
        <p:nvSpPr>
          <p:cNvPr id="14" name="AutoShape 14"/>
          <p:cNvSpPr/>
          <p:nvPr/>
        </p:nvSpPr>
        <p:spPr>
          <a:xfrm>
            <a:off x="7068175" y="7733548"/>
            <a:ext cx="0" cy="467846"/>
          </a:xfrm>
          <a:prstGeom prst="line">
            <a:avLst/>
          </a:prstGeom>
          <a:ln w="38100" cap="rnd">
            <a:solidFill>
              <a:srgbClr val="B23D44"/>
            </a:solidFill>
            <a:prstDash val="sysDot"/>
            <a:headEnd type="none" w="sm" len="sm"/>
            <a:tailEnd type="oval" w="lg" len="lg"/>
          </a:ln>
        </p:spPr>
        <p:txBody>
          <a:bodyPr/>
          <a:lstStyle/>
          <a:p>
            <a:endParaRPr lang="es-ES"/>
          </a:p>
        </p:txBody>
      </p:sp>
      <p:sp>
        <p:nvSpPr>
          <p:cNvPr id="15" name="Freeform 15"/>
          <p:cNvSpPr/>
          <p:nvPr/>
        </p:nvSpPr>
        <p:spPr>
          <a:xfrm rot="-5400000" flipH="1" flipV="1">
            <a:off x="8620878" y="6277566"/>
            <a:ext cx="1015539" cy="2086127"/>
          </a:xfrm>
          <a:custGeom>
            <a:avLst/>
            <a:gdLst/>
            <a:ahLst/>
            <a:cxnLst/>
            <a:rect l="l" t="t" r="r" b="b"/>
            <a:pathLst>
              <a:path w="1015539" h="2086127">
                <a:moveTo>
                  <a:pt x="1015539" y="2086127"/>
                </a:moveTo>
                <a:lnTo>
                  <a:pt x="0" y="2086127"/>
                </a:lnTo>
                <a:lnTo>
                  <a:pt x="0" y="0"/>
                </a:lnTo>
                <a:lnTo>
                  <a:pt x="1015539" y="0"/>
                </a:lnTo>
                <a:lnTo>
                  <a:pt x="1015539" y="2086127"/>
                </a:lnTo>
                <a:close/>
              </a:path>
            </a:pathLst>
          </a:custGeom>
          <a:blipFill>
            <a:blip r:embed="rId3">
              <a:extLst>
                <a:ext uri="{96DAC541-7B7A-43D3-8B79-37D633B846F1}">
                  <asvg:svgBlip xmlns:asvg="http://schemas.microsoft.com/office/drawing/2016/SVG/main" r:embed="rId4"/>
                </a:ext>
              </a:extLst>
            </a:blip>
            <a:stretch>
              <a:fillRect l="-105420"/>
            </a:stretch>
          </a:blipFill>
          <a:ln cap="sq">
            <a:noFill/>
            <a:prstDash val="solid"/>
            <a:miter/>
          </a:ln>
        </p:spPr>
        <p:txBody>
          <a:bodyPr/>
          <a:lstStyle/>
          <a:p>
            <a:endParaRPr lang="es-ES"/>
          </a:p>
        </p:txBody>
      </p:sp>
      <p:sp>
        <p:nvSpPr>
          <p:cNvPr id="16" name="Freeform 16"/>
          <p:cNvSpPr/>
          <p:nvPr/>
        </p:nvSpPr>
        <p:spPr>
          <a:xfrm rot="-5400000">
            <a:off x="8207959" y="5892172"/>
            <a:ext cx="1841376" cy="1841376"/>
          </a:xfrm>
          <a:custGeom>
            <a:avLst/>
            <a:gdLst/>
            <a:ahLst/>
            <a:cxnLst/>
            <a:rect l="l" t="t" r="r" b="b"/>
            <a:pathLst>
              <a:path w="1841376" h="1841376">
                <a:moveTo>
                  <a:pt x="0" y="0"/>
                </a:moveTo>
                <a:lnTo>
                  <a:pt x="1841377" y="0"/>
                </a:lnTo>
                <a:lnTo>
                  <a:pt x="1841377"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s-ES"/>
          </a:p>
        </p:txBody>
      </p:sp>
      <p:sp>
        <p:nvSpPr>
          <p:cNvPr id="17" name="AutoShape 17"/>
          <p:cNvSpPr/>
          <p:nvPr/>
        </p:nvSpPr>
        <p:spPr>
          <a:xfrm flipH="1" flipV="1">
            <a:off x="9097969" y="5424148"/>
            <a:ext cx="3218" cy="467835"/>
          </a:xfrm>
          <a:prstGeom prst="line">
            <a:avLst/>
          </a:prstGeom>
          <a:ln w="38100" cap="rnd">
            <a:solidFill>
              <a:srgbClr val="B23D44"/>
            </a:solidFill>
            <a:prstDash val="sysDot"/>
            <a:headEnd type="none" w="sm" len="sm"/>
            <a:tailEnd type="oval" w="lg" len="lg"/>
          </a:ln>
        </p:spPr>
        <p:txBody>
          <a:bodyPr/>
          <a:lstStyle/>
          <a:p>
            <a:endParaRPr lang="es-ES"/>
          </a:p>
        </p:txBody>
      </p:sp>
      <p:sp>
        <p:nvSpPr>
          <p:cNvPr id="18" name="Freeform 18"/>
          <p:cNvSpPr/>
          <p:nvPr/>
        </p:nvSpPr>
        <p:spPr>
          <a:xfrm rot="-5400000">
            <a:off x="10680746" y="5262027"/>
            <a:ext cx="1015539" cy="2086127"/>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3">
              <a:extLst>
                <a:ext uri="{96DAC541-7B7A-43D3-8B79-37D633B846F1}">
                  <asvg:svgBlip xmlns:asvg="http://schemas.microsoft.com/office/drawing/2016/SVG/main" r:embed="rId4"/>
                </a:ext>
              </a:extLst>
            </a:blip>
            <a:stretch>
              <a:fillRect l="-105420"/>
            </a:stretch>
          </a:blipFill>
          <a:ln cap="sq">
            <a:noFill/>
            <a:prstDash val="solid"/>
            <a:miter/>
          </a:ln>
        </p:spPr>
        <p:txBody>
          <a:bodyPr/>
          <a:lstStyle/>
          <a:p>
            <a:endParaRPr lang="es-ES"/>
          </a:p>
        </p:txBody>
      </p:sp>
      <p:sp>
        <p:nvSpPr>
          <p:cNvPr id="19" name="Freeform 19"/>
          <p:cNvSpPr/>
          <p:nvPr/>
        </p:nvSpPr>
        <p:spPr>
          <a:xfrm rot="-5400000">
            <a:off x="10239270" y="5892172"/>
            <a:ext cx="1841376" cy="1841376"/>
          </a:xfrm>
          <a:custGeom>
            <a:avLst/>
            <a:gdLst/>
            <a:ahLst/>
            <a:cxnLst/>
            <a:rect l="l" t="t" r="r" b="b"/>
            <a:pathLst>
              <a:path w="1841376" h="1841376">
                <a:moveTo>
                  <a:pt x="0" y="0"/>
                </a:moveTo>
                <a:lnTo>
                  <a:pt x="1841377" y="0"/>
                </a:lnTo>
                <a:lnTo>
                  <a:pt x="1841377"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s-ES"/>
          </a:p>
        </p:txBody>
      </p:sp>
      <p:sp>
        <p:nvSpPr>
          <p:cNvPr id="20" name="AutoShape 20"/>
          <p:cNvSpPr/>
          <p:nvPr/>
        </p:nvSpPr>
        <p:spPr>
          <a:xfrm>
            <a:off x="11188515" y="7733548"/>
            <a:ext cx="0" cy="467846"/>
          </a:xfrm>
          <a:prstGeom prst="line">
            <a:avLst/>
          </a:prstGeom>
          <a:ln w="38100" cap="rnd">
            <a:solidFill>
              <a:srgbClr val="B23D44"/>
            </a:solidFill>
            <a:prstDash val="sysDot"/>
            <a:headEnd type="none" w="sm" len="sm"/>
            <a:tailEnd type="oval" w="lg" len="lg"/>
          </a:ln>
        </p:spPr>
        <p:txBody>
          <a:bodyPr/>
          <a:lstStyle/>
          <a:p>
            <a:endParaRPr lang="es-ES"/>
          </a:p>
        </p:txBody>
      </p:sp>
      <p:sp>
        <p:nvSpPr>
          <p:cNvPr id="21" name="Freeform 21"/>
          <p:cNvSpPr/>
          <p:nvPr/>
        </p:nvSpPr>
        <p:spPr>
          <a:xfrm rot="-5400000" flipH="1" flipV="1">
            <a:off x="12735851" y="6277478"/>
            <a:ext cx="1015539" cy="2086127"/>
          </a:xfrm>
          <a:custGeom>
            <a:avLst/>
            <a:gdLst/>
            <a:ahLst/>
            <a:cxnLst/>
            <a:rect l="l" t="t" r="r" b="b"/>
            <a:pathLst>
              <a:path w="1015539" h="2086127">
                <a:moveTo>
                  <a:pt x="1015539" y="2086127"/>
                </a:moveTo>
                <a:lnTo>
                  <a:pt x="0" y="2086127"/>
                </a:lnTo>
                <a:lnTo>
                  <a:pt x="0" y="0"/>
                </a:lnTo>
                <a:lnTo>
                  <a:pt x="1015539" y="0"/>
                </a:lnTo>
                <a:lnTo>
                  <a:pt x="1015539" y="2086127"/>
                </a:lnTo>
                <a:close/>
              </a:path>
            </a:pathLst>
          </a:custGeom>
          <a:blipFill>
            <a:blip r:embed="rId3">
              <a:extLst>
                <a:ext uri="{96DAC541-7B7A-43D3-8B79-37D633B846F1}">
                  <asvg:svgBlip xmlns:asvg="http://schemas.microsoft.com/office/drawing/2016/SVG/main" r:embed="rId4"/>
                </a:ext>
              </a:extLst>
            </a:blip>
            <a:stretch>
              <a:fillRect l="-105420"/>
            </a:stretch>
          </a:blipFill>
          <a:ln cap="sq">
            <a:noFill/>
            <a:prstDash val="solid"/>
            <a:miter/>
          </a:ln>
        </p:spPr>
        <p:txBody>
          <a:bodyPr/>
          <a:lstStyle/>
          <a:p>
            <a:endParaRPr lang="es-ES"/>
          </a:p>
        </p:txBody>
      </p:sp>
      <p:sp>
        <p:nvSpPr>
          <p:cNvPr id="22" name="Freeform 22"/>
          <p:cNvSpPr/>
          <p:nvPr/>
        </p:nvSpPr>
        <p:spPr>
          <a:xfrm rot="-5400000">
            <a:off x="12322932" y="5892084"/>
            <a:ext cx="1841376" cy="1841376"/>
          </a:xfrm>
          <a:custGeom>
            <a:avLst/>
            <a:gdLst/>
            <a:ahLst/>
            <a:cxnLst/>
            <a:rect l="l" t="t" r="r" b="b"/>
            <a:pathLst>
              <a:path w="1841376" h="1841376">
                <a:moveTo>
                  <a:pt x="0" y="0"/>
                </a:moveTo>
                <a:lnTo>
                  <a:pt x="1841377" y="0"/>
                </a:lnTo>
                <a:lnTo>
                  <a:pt x="1841377"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s-ES"/>
          </a:p>
        </p:txBody>
      </p:sp>
      <p:sp>
        <p:nvSpPr>
          <p:cNvPr id="23" name="AutoShape 23"/>
          <p:cNvSpPr/>
          <p:nvPr/>
        </p:nvSpPr>
        <p:spPr>
          <a:xfrm flipH="1" flipV="1">
            <a:off x="13212942" y="5424060"/>
            <a:ext cx="3218" cy="467835"/>
          </a:xfrm>
          <a:prstGeom prst="line">
            <a:avLst/>
          </a:prstGeom>
          <a:ln w="38100" cap="rnd">
            <a:solidFill>
              <a:srgbClr val="B23D44"/>
            </a:solidFill>
            <a:prstDash val="sysDot"/>
            <a:headEnd type="none" w="sm" len="sm"/>
            <a:tailEnd type="oval" w="lg" len="lg"/>
          </a:ln>
        </p:spPr>
        <p:txBody>
          <a:bodyPr/>
          <a:lstStyle/>
          <a:p>
            <a:endParaRPr lang="es-ES"/>
          </a:p>
        </p:txBody>
      </p:sp>
      <p:sp>
        <p:nvSpPr>
          <p:cNvPr id="24" name="Freeform 24"/>
          <p:cNvSpPr/>
          <p:nvPr/>
        </p:nvSpPr>
        <p:spPr>
          <a:xfrm rot="-5400000">
            <a:off x="14797638" y="5262027"/>
            <a:ext cx="1015539" cy="2086127"/>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3">
              <a:extLst>
                <a:ext uri="{96DAC541-7B7A-43D3-8B79-37D633B846F1}">
                  <asvg:svgBlip xmlns:asvg="http://schemas.microsoft.com/office/drawing/2016/SVG/main" r:embed="rId4"/>
                </a:ext>
              </a:extLst>
            </a:blip>
            <a:stretch>
              <a:fillRect l="-105420"/>
            </a:stretch>
          </a:blipFill>
          <a:ln cap="sq">
            <a:noFill/>
            <a:prstDash val="solid"/>
            <a:miter/>
          </a:ln>
        </p:spPr>
        <p:txBody>
          <a:bodyPr/>
          <a:lstStyle/>
          <a:p>
            <a:endParaRPr lang="es-ES"/>
          </a:p>
        </p:txBody>
      </p:sp>
      <p:sp>
        <p:nvSpPr>
          <p:cNvPr id="25" name="Freeform 25"/>
          <p:cNvSpPr/>
          <p:nvPr/>
        </p:nvSpPr>
        <p:spPr>
          <a:xfrm rot="-5400000">
            <a:off x="14356163" y="5892172"/>
            <a:ext cx="1841376" cy="1841376"/>
          </a:xfrm>
          <a:custGeom>
            <a:avLst/>
            <a:gdLst/>
            <a:ahLst/>
            <a:cxnLst/>
            <a:rect l="l" t="t" r="r" b="b"/>
            <a:pathLst>
              <a:path w="1841376" h="1841376">
                <a:moveTo>
                  <a:pt x="0" y="0"/>
                </a:moveTo>
                <a:lnTo>
                  <a:pt x="1841376" y="0"/>
                </a:lnTo>
                <a:lnTo>
                  <a:pt x="1841376"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s-ES"/>
          </a:p>
        </p:txBody>
      </p:sp>
      <p:sp>
        <p:nvSpPr>
          <p:cNvPr id="26" name="AutoShape 26"/>
          <p:cNvSpPr/>
          <p:nvPr/>
        </p:nvSpPr>
        <p:spPr>
          <a:xfrm>
            <a:off x="15305408" y="7733548"/>
            <a:ext cx="0" cy="467846"/>
          </a:xfrm>
          <a:prstGeom prst="line">
            <a:avLst/>
          </a:prstGeom>
          <a:ln w="38100" cap="rnd">
            <a:solidFill>
              <a:srgbClr val="B23D44"/>
            </a:solidFill>
            <a:prstDash val="sysDot"/>
            <a:headEnd type="none" w="sm" len="sm"/>
            <a:tailEnd type="oval" w="lg" len="lg"/>
          </a:ln>
        </p:spPr>
        <p:txBody>
          <a:bodyPr/>
          <a:lstStyle/>
          <a:p>
            <a:endParaRPr lang="es-ES"/>
          </a:p>
        </p:txBody>
      </p:sp>
      <p:sp>
        <p:nvSpPr>
          <p:cNvPr id="27" name="Freeform 27"/>
          <p:cNvSpPr/>
          <p:nvPr/>
        </p:nvSpPr>
        <p:spPr>
          <a:xfrm>
            <a:off x="2514225" y="6463732"/>
            <a:ext cx="816893" cy="766859"/>
          </a:xfrm>
          <a:custGeom>
            <a:avLst/>
            <a:gdLst/>
            <a:ahLst/>
            <a:cxnLst/>
            <a:rect l="l" t="t" r="r" b="b"/>
            <a:pathLst>
              <a:path w="816893" h="766859">
                <a:moveTo>
                  <a:pt x="0" y="0"/>
                </a:moveTo>
                <a:lnTo>
                  <a:pt x="816893" y="0"/>
                </a:lnTo>
                <a:lnTo>
                  <a:pt x="816893" y="766859"/>
                </a:lnTo>
                <a:lnTo>
                  <a:pt x="0" y="766859"/>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s-ES"/>
          </a:p>
        </p:txBody>
      </p:sp>
      <p:sp>
        <p:nvSpPr>
          <p:cNvPr id="28" name="Freeform 28"/>
          <p:cNvSpPr/>
          <p:nvPr/>
        </p:nvSpPr>
        <p:spPr>
          <a:xfrm>
            <a:off x="4548759" y="6348857"/>
            <a:ext cx="867745" cy="856898"/>
          </a:xfrm>
          <a:custGeom>
            <a:avLst/>
            <a:gdLst/>
            <a:ahLst/>
            <a:cxnLst/>
            <a:rect l="l" t="t" r="r" b="b"/>
            <a:pathLst>
              <a:path w="867745" h="856898">
                <a:moveTo>
                  <a:pt x="0" y="0"/>
                </a:moveTo>
                <a:lnTo>
                  <a:pt x="867744" y="0"/>
                </a:lnTo>
                <a:lnTo>
                  <a:pt x="867744" y="856898"/>
                </a:lnTo>
                <a:lnTo>
                  <a:pt x="0" y="856898"/>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s-ES"/>
          </a:p>
        </p:txBody>
      </p:sp>
      <p:sp>
        <p:nvSpPr>
          <p:cNvPr id="29" name="Freeform 29"/>
          <p:cNvSpPr/>
          <p:nvPr/>
        </p:nvSpPr>
        <p:spPr>
          <a:xfrm>
            <a:off x="14798505" y="6316001"/>
            <a:ext cx="964788" cy="963034"/>
          </a:xfrm>
          <a:custGeom>
            <a:avLst/>
            <a:gdLst/>
            <a:ahLst/>
            <a:cxnLst/>
            <a:rect l="l" t="t" r="r" b="b"/>
            <a:pathLst>
              <a:path w="964788" h="963034">
                <a:moveTo>
                  <a:pt x="0" y="0"/>
                </a:moveTo>
                <a:lnTo>
                  <a:pt x="964788" y="0"/>
                </a:lnTo>
                <a:lnTo>
                  <a:pt x="964788" y="963034"/>
                </a:lnTo>
                <a:lnTo>
                  <a:pt x="0" y="963034"/>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s-ES"/>
          </a:p>
        </p:txBody>
      </p:sp>
      <p:sp>
        <p:nvSpPr>
          <p:cNvPr id="30" name="Freeform 30"/>
          <p:cNvSpPr/>
          <p:nvPr/>
        </p:nvSpPr>
        <p:spPr>
          <a:xfrm>
            <a:off x="6607214" y="6298078"/>
            <a:ext cx="878295" cy="958457"/>
          </a:xfrm>
          <a:custGeom>
            <a:avLst/>
            <a:gdLst/>
            <a:ahLst/>
            <a:cxnLst/>
            <a:rect l="l" t="t" r="r" b="b"/>
            <a:pathLst>
              <a:path w="878295" h="958457">
                <a:moveTo>
                  <a:pt x="0" y="0"/>
                </a:moveTo>
                <a:lnTo>
                  <a:pt x="878295" y="0"/>
                </a:lnTo>
                <a:lnTo>
                  <a:pt x="878295" y="958457"/>
                </a:lnTo>
                <a:lnTo>
                  <a:pt x="0" y="95845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s-ES"/>
          </a:p>
        </p:txBody>
      </p:sp>
      <p:sp>
        <p:nvSpPr>
          <p:cNvPr id="31" name="Freeform 31"/>
          <p:cNvSpPr/>
          <p:nvPr/>
        </p:nvSpPr>
        <p:spPr>
          <a:xfrm>
            <a:off x="8628325" y="6255773"/>
            <a:ext cx="1000041" cy="1043067"/>
          </a:xfrm>
          <a:custGeom>
            <a:avLst/>
            <a:gdLst/>
            <a:ahLst/>
            <a:cxnLst/>
            <a:rect l="l" t="t" r="r" b="b"/>
            <a:pathLst>
              <a:path w="1000041" h="1043067">
                <a:moveTo>
                  <a:pt x="0" y="0"/>
                </a:moveTo>
                <a:lnTo>
                  <a:pt x="1000040" y="0"/>
                </a:lnTo>
                <a:lnTo>
                  <a:pt x="1000040" y="1043067"/>
                </a:lnTo>
                <a:lnTo>
                  <a:pt x="0" y="104306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s-ES"/>
          </a:p>
        </p:txBody>
      </p:sp>
      <p:sp>
        <p:nvSpPr>
          <p:cNvPr id="32" name="Freeform 32"/>
          <p:cNvSpPr/>
          <p:nvPr/>
        </p:nvSpPr>
        <p:spPr>
          <a:xfrm>
            <a:off x="10809886" y="6348857"/>
            <a:ext cx="841683" cy="841683"/>
          </a:xfrm>
          <a:custGeom>
            <a:avLst/>
            <a:gdLst/>
            <a:ahLst/>
            <a:cxnLst/>
            <a:rect l="l" t="t" r="r" b="b"/>
            <a:pathLst>
              <a:path w="841683" h="841683">
                <a:moveTo>
                  <a:pt x="0" y="0"/>
                </a:moveTo>
                <a:lnTo>
                  <a:pt x="841683" y="0"/>
                </a:lnTo>
                <a:lnTo>
                  <a:pt x="841683" y="841683"/>
                </a:lnTo>
                <a:lnTo>
                  <a:pt x="0" y="84168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s-ES"/>
          </a:p>
        </p:txBody>
      </p:sp>
      <p:sp>
        <p:nvSpPr>
          <p:cNvPr id="33" name="Freeform 33"/>
          <p:cNvSpPr/>
          <p:nvPr/>
        </p:nvSpPr>
        <p:spPr>
          <a:xfrm>
            <a:off x="12745929" y="6305003"/>
            <a:ext cx="1000762" cy="1000762"/>
          </a:xfrm>
          <a:custGeom>
            <a:avLst/>
            <a:gdLst/>
            <a:ahLst/>
            <a:cxnLst/>
            <a:rect l="l" t="t" r="r" b="b"/>
            <a:pathLst>
              <a:path w="1000762" h="1000762">
                <a:moveTo>
                  <a:pt x="0" y="0"/>
                </a:moveTo>
                <a:lnTo>
                  <a:pt x="1000762" y="0"/>
                </a:lnTo>
                <a:lnTo>
                  <a:pt x="1000762" y="1000762"/>
                </a:lnTo>
                <a:lnTo>
                  <a:pt x="0" y="100076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s-ES"/>
          </a:p>
        </p:txBody>
      </p:sp>
      <p:sp>
        <p:nvSpPr>
          <p:cNvPr id="34" name="TextBox 34"/>
          <p:cNvSpPr txBox="1"/>
          <p:nvPr/>
        </p:nvSpPr>
        <p:spPr>
          <a:xfrm>
            <a:off x="1163864" y="1225222"/>
            <a:ext cx="11885040" cy="1151255"/>
          </a:xfrm>
          <a:prstGeom prst="rect">
            <a:avLst/>
          </a:prstGeom>
        </p:spPr>
        <p:txBody>
          <a:bodyPr lIns="0" tIns="0" rIns="0" bIns="0" rtlCol="0" anchor="t">
            <a:spAutoFit/>
          </a:bodyPr>
          <a:lstStyle/>
          <a:p>
            <a:pPr marL="0" lvl="0" indent="0" algn="l">
              <a:lnSpc>
                <a:spcPts val="9520"/>
              </a:lnSpc>
              <a:spcBef>
                <a:spcPct val="0"/>
              </a:spcBef>
            </a:pPr>
            <a:r>
              <a:rPr lang="en-US" sz="6800" b="1" spc="-136">
                <a:solidFill>
                  <a:srgbClr val="191919"/>
                </a:solidFill>
                <a:latin typeface="Open Sauce Bold"/>
                <a:ea typeface="Open Sauce Bold"/>
                <a:cs typeface="Open Sauce Bold"/>
                <a:sym typeface="Open Sauce Bold"/>
              </a:rPr>
              <a:t>Planificación Temporal</a:t>
            </a:r>
          </a:p>
        </p:txBody>
      </p:sp>
      <p:sp>
        <p:nvSpPr>
          <p:cNvPr id="35" name="TextBox 35"/>
          <p:cNvSpPr txBox="1"/>
          <p:nvPr/>
        </p:nvSpPr>
        <p:spPr>
          <a:xfrm>
            <a:off x="1920992" y="8280292"/>
            <a:ext cx="2060473" cy="1143762"/>
          </a:xfrm>
          <a:prstGeom prst="rect">
            <a:avLst/>
          </a:prstGeom>
        </p:spPr>
        <p:txBody>
          <a:bodyPr lIns="0" tIns="0" rIns="0" bIns="0" rtlCol="0" anchor="t">
            <a:spAutoFit/>
          </a:bodyPr>
          <a:lstStyle/>
          <a:p>
            <a:pPr algn="ctr">
              <a:lnSpc>
                <a:spcPts val="2304"/>
              </a:lnSpc>
            </a:pPr>
            <a:r>
              <a:rPr lang="en-US" sz="1800">
                <a:solidFill>
                  <a:srgbClr val="343432"/>
                </a:solidFill>
                <a:latin typeface="Open Sauce"/>
                <a:ea typeface="Open Sauce"/>
                <a:cs typeface="Open Sauce"/>
                <a:sym typeface="Open Sauce"/>
              </a:rPr>
              <a:t>Iniciación del Proyecto</a:t>
            </a:r>
          </a:p>
          <a:p>
            <a:pPr marL="0" lvl="0" indent="0" algn="ctr">
              <a:lnSpc>
                <a:spcPts val="2304"/>
              </a:lnSpc>
              <a:spcBef>
                <a:spcPct val="0"/>
              </a:spcBef>
            </a:pPr>
            <a:r>
              <a:rPr lang="en-US" sz="1800">
                <a:solidFill>
                  <a:srgbClr val="343432"/>
                </a:solidFill>
                <a:latin typeface="Open Sauce"/>
                <a:ea typeface="Open Sauce"/>
                <a:cs typeface="Open Sauce"/>
                <a:sym typeface="Open Sauce"/>
              </a:rPr>
              <a:t>03/02/2025 - 26/02/2025</a:t>
            </a:r>
          </a:p>
        </p:txBody>
      </p:sp>
      <p:sp>
        <p:nvSpPr>
          <p:cNvPr id="36" name="TextBox 36"/>
          <p:cNvSpPr txBox="1"/>
          <p:nvPr/>
        </p:nvSpPr>
        <p:spPr>
          <a:xfrm>
            <a:off x="3968638" y="4165554"/>
            <a:ext cx="2060473" cy="1715262"/>
          </a:xfrm>
          <a:prstGeom prst="rect">
            <a:avLst/>
          </a:prstGeom>
        </p:spPr>
        <p:txBody>
          <a:bodyPr lIns="0" tIns="0" rIns="0" bIns="0" rtlCol="0" anchor="t">
            <a:spAutoFit/>
          </a:bodyPr>
          <a:lstStyle/>
          <a:p>
            <a:pPr algn="ctr">
              <a:lnSpc>
                <a:spcPts val="2304"/>
              </a:lnSpc>
            </a:pPr>
            <a:r>
              <a:rPr lang="en-US" sz="1800">
                <a:solidFill>
                  <a:srgbClr val="343432"/>
                </a:solidFill>
                <a:latin typeface="Open Sauce"/>
                <a:ea typeface="Open Sauce"/>
                <a:cs typeface="Open Sauce"/>
                <a:sym typeface="Open Sauce"/>
              </a:rPr>
              <a:t>Planificación y Preparación</a:t>
            </a:r>
          </a:p>
          <a:p>
            <a:pPr algn="ctr">
              <a:lnSpc>
                <a:spcPts val="2304"/>
              </a:lnSpc>
            </a:pPr>
            <a:r>
              <a:rPr lang="en-US" sz="1800">
                <a:solidFill>
                  <a:srgbClr val="343432"/>
                </a:solidFill>
                <a:latin typeface="Open Sauce"/>
                <a:ea typeface="Open Sauce"/>
                <a:cs typeface="Open Sauce"/>
                <a:sym typeface="Open Sauce"/>
              </a:rPr>
              <a:t>27/02/2025 - 19/03/2025</a:t>
            </a:r>
          </a:p>
          <a:p>
            <a:pPr algn="ctr">
              <a:lnSpc>
                <a:spcPts val="2304"/>
              </a:lnSpc>
            </a:pPr>
            <a:endParaRPr lang="en-US" sz="1800">
              <a:solidFill>
                <a:srgbClr val="343432"/>
              </a:solidFill>
              <a:latin typeface="Open Sauce"/>
              <a:ea typeface="Open Sauce"/>
              <a:cs typeface="Open Sauce"/>
              <a:sym typeface="Open Sauce"/>
            </a:endParaRPr>
          </a:p>
          <a:p>
            <a:pPr marL="0" lvl="0" indent="0" algn="ctr">
              <a:lnSpc>
                <a:spcPts val="2304"/>
              </a:lnSpc>
              <a:spcBef>
                <a:spcPct val="0"/>
              </a:spcBef>
            </a:pPr>
            <a:endParaRPr lang="en-US" sz="1800">
              <a:solidFill>
                <a:srgbClr val="343432"/>
              </a:solidFill>
              <a:latin typeface="Open Sauce"/>
              <a:ea typeface="Open Sauce"/>
              <a:cs typeface="Open Sauce"/>
              <a:sym typeface="Open Sauce"/>
            </a:endParaRPr>
          </a:p>
        </p:txBody>
      </p:sp>
      <p:sp>
        <p:nvSpPr>
          <p:cNvPr id="37" name="TextBox 37"/>
          <p:cNvSpPr txBox="1"/>
          <p:nvPr/>
        </p:nvSpPr>
        <p:spPr>
          <a:xfrm>
            <a:off x="6076147" y="8280292"/>
            <a:ext cx="2060473" cy="1143762"/>
          </a:xfrm>
          <a:prstGeom prst="rect">
            <a:avLst/>
          </a:prstGeom>
        </p:spPr>
        <p:txBody>
          <a:bodyPr lIns="0" tIns="0" rIns="0" bIns="0" rtlCol="0" anchor="t">
            <a:spAutoFit/>
          </a:bodyPr>
          <a:lstStyle/>
          <a:p>
            <a:pPr algn="ctr">
              <a:lnSpc>
                <a:spcPts val="2304"/>
              </a:lnSpc>
            </a:pPr>
            <a:r>
              <a:rPr lang="en-US" sz="1800">
                <a:solidFill>
                  <a:srgbClr val="343432"/>
                </a:solidFill>
                <a:latin typeface="Open Sauce"/>
                <a:ea typeface="Open Sauce"/>
                <a:cs typeface="Open Sauce"/>
                <a:sym typeface="Open Sauce"/>
              </a:rPr>
              <a:t>Diseño y Desarrollo</a:t>
            </a:r>
          </a:p>
          <a:p>
            <a:pPr marL="0" lvl="0" indent="0" algn="ctr">
              <a:lnSpc>
                <a:spcPts val="2304"/>
              </a:lnSpc>
              <a:spcBef>
                <a:spcPct val="0"/>
              </a:spcBef>
            </a:pPr>
            <a:r>
              <a:rPr lang="en-US" sz="1800">
                <a:solidFill>
                  <a:srgbClr val="343432"/>
                </a:solidFill>
                <a:latin typeface="Open Sauce"/>
                <a:ea typeface="Open Sauce"/>
                <a:cs typeface="Open Sauce"/>
                <a:sym typeface="Open Sauce"/>
              </a:rPr>
              <a:t>20/03/2025 - 08/05/2025</a:t>
            </a:r>
          </a:p>
        </p:txBody>
      </p:sp>
      <p:sp>
        <p:nvSpPr>
          <p:cNvPr id="38" name="TextBox 38"/>
          <p:cNvSpPr txBox="1"/>
          <p:nvPr/>
        </p:nvSpPr>
        <p:spPr>
          <a:xfrm>
            <a:off x="7780492" y="4203313"/>
            <a:ext cx="2641389" cy="1143762"/>
          </a:xfrm>
          <a:prstGeom prst="rect">
            <a:avLst/>
          </a:prstGeom>
        </p:spPr>
        <p:txBody>
          <a:bodyPr lIns="0" tIns="0" rIns="0" bIns="0" rtlCol="0" anchor="t">
            <a:spAutoFit/>
          </a:bodyPr>
          <a:lstStyle/>
          <a:p>
            <a:pPr algn="ctr">
              <a:lnSpc>
                <a:spcPts val="2304"/>
              </a:lnSpc>
            </a:pPr>
            <a:r>
              <a:rPr lang="en-US" sz="1800">
                <a:solidFill>
                  <a:srgbClr val="343432"/>
                </a:solidFill>
                <a:latin typeface="Open Sauce"/>
                <a:ea typeface="Open Sauce"/>
                <a:cs typeface="Open Sauce"/>
                <a:sym typeface="Open Sauce"/>
              </a:rPr>
              <a:t>Prototipado y Pruebas Iniciales</a:t>
            </a:r>
          </a:p>
          <a:p>
            <a:pPr marL="0" lvl="0" indent="0" algn="ctr">
              <a:lnSpc>
                <a:spcPts val="2304"/>
              </a:lnSpc>
              <a:spcBef>
                <a:spcPct val="0"/>
              </a:spcBef>
            </a:pPr>
            <a:r>
              <a:rPr lang="en-US" sz="1800">
                <a:solidFill>
                  <a:srgbClr val="343432"/>
                </a:solidFill>
                <a:latin typeface="Open Sauce"/>
                <a:ea typeface="Open Sauce"/>
                <a:cs typeface="Open Sauce"/>
                <a:sym typeface="Open Sauce"/>
              </a:rPr>
              <a:t>09/05/2025 - 25/05/2025</a:t>
            </a:r>
          </a:p>
        </p:txBody>
      </p:sp>
      <p:sp>
        <p:nvSpPr>
          <p:cNvPr id="39" name="TextBox 39"/>
          <p:cNvSpPr txBox="1"/>
          <p:nvPr/>
        </p:nvSpPr>
        <p:spPr>
          <a:xfrm>
            <a:off x="10171711" y="8317152"/>
            <a:ext cx="2060473" cy="1429512"/>
          </a:xfrm>
          <a:prstGeom prst="rect">
            <a:avLst/>
          </a:prstGeom>
        </p:spPr>
        <p:txBody>
          <a:bodyPr lIns="0" tIns="0" rIns="0" bIns="0" rtlCol="0" anchor="t">
            <a:spAutoFit/>
          </a:bodyPr>
          <a:lstStyle/>
          <a:p>
            <a:pPr algn="ctr">
              <a:lnSpc>
                <a:spcPts val="2304"/>
              </a:lnSpc>
            </a:pPr>
            <a:r>
              <a:rPr lang="en-US" sz="1800">
                <a:solidFill>
                  <a:srgbClr val="343432"/>
                </a:solidFill>
                <a:latin typeface="Open Sauce"/>
                <a:ea typeface="Open Sauce"/>
                <a:cs typeface="Open Sauce"/>
                <a:sym typeface="Open Sauce"/>
              </a:rPr>
              <a:t>Implantación de Prueba</a:t>
            </a:r>
          </a:p>
          <a:p>
            <a:pPr algn="ctr">
              <a:lnSpc>
                <a:spcPts val="2304"/>
              </a:lnSpc>
            </a:pPr>
            <a:r>
              <a:rPr lang="en-US" sz="1800">
                <a:solidFill>
                  <a:srgbClr val="343432"/>
                </a:solidFill>
                <a:latin typeface="Open Sauce"/>
                <a:ea typeface="Open Sauce"/>
                <a:cs typeface="Open Sauce"/>
                <a:sym typeface="Open Sauce"/>
              </a:rPr>
              <a:t>26/05/2025 - 15/06/2025</a:t>
            </a:r>
          </a:p>
          <a:p>
            <a:pPr marL="0" lvl="0" indent="0" algn="ctr">
              <a:lnSpc>
                <a:spcPts val="2304"/>
              </a:lnSpc>
              <a:spcBef>
                <a:spcPct val="0"/>
              </a:spcBef>
            </a:pPr>
            <a:endParaRPr lang="en-US" sz="1800">
              <a:solidFill>
                <a:srgbClr val="343432"/>
              </a:solidFill>
              <a:latin typeface="Open Sauce"/>
              <a:ea typeface="Open Sauce"/>
              <a:cs typeface="Open Sauce"/>
              <a:sym typeface="Open Sauce"/>
            </a:endParaRPr>
          </a:p>
        </p:txBody>
      </p:sp>
      <p:sp>
        <p:nvSpPr>
          <p:cNvPr id="40" name="TextBox 40"/>
          <p:cNvSpPr txBox="1"/>
          <p:nvPr/>
        </p:nvSpPr>
        <p:spPr>
          <a:xfrm>
            <a:off x="12174481" y="4203313"/>
            <a:ext cx="2060473" cy="1143762"/>
          </a:xfrm>
          <a:prstGeom prst="rect">
            <a:avLst/>
          </a:prstGeom>
        </p:spPr>
        <p:txBody>
          <a:bodyPr lIns="0" tIns="0" rIns="0" bIns="0" rtlCol="0" anchor="t">
            <a:spAutoFit/>
          </a:bodyPr>
          <a:lstStyle/>
          <a:p>
            <a:pPr algn="ctr">
              <a:lnSpc>
                <a:spcPts val="2304"/>
              </a:lnSpc>
            </a:pPr>
            <a:r>
              <a:rPr lang="en-US" sz="1800">
                <a:solidFill>
                  <a:srgbClr val="343432"/>
                </a:solidFill>
                <a:latin typeface="Open Sauce"/>
                <a:ea typeface="Open Sauce"/>
                <a:cs typeface="Open Sauce"/>
                <a:sym typeface="Open Sauce"/>
              </a:rPr>
              <a:t>Producción y Lanzamiento</a:t>
            </a:r>
          </a:p>
          <a:p>
            <a:pPr algn="ctr">
              <a:lnSpc>
                <a:spcPts val="2304"/>
              </a:lnSpc>
              <a:spcBef>
                <a:spcPct val="0"/>
              </a:spcBef>
            </a:pPr>
            <a:r>
              <a:rPr lang="en-US" sz="1800">
                <a:solidFill>
                  <a:srgbClr val="343432"/>
                </a:solidFill>
                <a:latin typeface="Open Sauce"/>
                <a:ea typeface="Open Sauce"/>
                <a:cs typeface="Open Sauce"/>
                <a:sym typeface="Open Sauce"/>
              </a:rPr>
              <a:t>16/06/2025 - 25/06/2025</a:t>
            </a:r>
          </a:p>
        </p:txBody>
      </p:sp>
      <p:sp>
        <p:nvSpPr>
          <p:cNvPr id="41" name="TextBox 41"/>
          <p:cNvSpPr txBox="1"/>
          <p:nvPr/>
        </p:nvSpPr>
        <p:spPr>
          <a:xfrm>
            <a:off x="14319362" y="8281598"/>
            <a:ext cx="2060473" cy="1143762"/>
          </a:xfrm>
          <a:prstGeom prst="rect">
            <a:avLst/>
          </a:prstGeom>
        </p:spPr>
        <p:txBody>
          <a:bodyPr lIns="0" tIns="0" rIns="0" bIns="0" rtlCol="0" anchor="t">
            <a:spAutoFit/>
          </a:bodyPr>
          <a:lstStyle/>
          <a:p>
            <a:pPr algn="ctr">
              <a:lnSpc>
                <a:spcPts val="2304"/>
              </a:lnSpc>
            </a:pPr>
            <a:r>
              <a:rPr lang="en-US" sz="1800">
                <a:solidFill>
                  <a:srgbClr val="343432"/>
                </a:solidFill>
                <a:latin typeface="Open Sauce"/>
                <a:ea typeface="Open Sauce"/>
                <a:cs typeface="Open Sauce"/>
                <a:sym typeface="Open Sauce"/>
              </a:rPr>
              <a:t>Seguimiento y Actualizaciones</a:t>
            </a:r>
          </a:p>
          <a:p>
            <a:pPr marL="0" lvl="0" indent="0" algn="ctr">
              <a:lnSpc>
                <a:spcPts val="2304"/>
              </a:lnSpc>
              <a:spcBef>
                <a:spcPct val="0"/>
              </a:spcBef>
            </a:pPr>
            <a:r>
              <a:rPr lang="en-US" sz="1800">
                <a:solidFill>
                  <a:srgbClr val="343432"/>
                </a:solidFill>
                <a:latin typeface="Open Sauce"/>
                <a:ea typeface="Open Sauce"/>
                <a:cs typeface="Open Sauce"/>
                <a:sym typeface="Open Sauce"/>
              </a:rPr>
              <a:t>26/06/2025 - 07/07/2025</a:t>
            </a:r>
          </a:p>
        </p:txBody>
      </p:sp>
      <p:grpSp>
        <p:nvGrpSpPr>
          <p:cNvPr id="42" name="Group 42"/>
          <p:cNvGrpSpPr/>
          <p:nvPr/>
        </p:nvGrpSpPr>
        <p:grpSpPr>
          <a:xfrm>
            <a:off x="16197539" y="-1310840"/>
            <a:ext cx="4201427" cy="4201427"/>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B23D44"/>
              </a:solidFill>
              <a:prstDash val="solid"/>
              <a:miter/>
            </a:ln>
          </p:spPr>
          <p:txBody>
            <a:bodyPr/>
            <a:lstStyle/>
            <a:p>
              <a:endParaRPr lang="es-ES"/>
            </a:p>
          </p:txBody>
        </p:sp>
        <p:sp>
          <p:nvSpPr>
            <p:cNvPr id="44" name="TextBox 44"/>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45" name="Group 45"/>
          <p:cNvGrpSpPr/>
          <p:nvPr/>
        </p:nvGrpSpPr>
        <p:grpSpPr>
          <a:xfrm>
            <a:off x="15017963" y="820136"/>
            <a:ext cx="517775" cy="528911"/>
            <a:chOff x="0" y="0"/>
            <a:chExt cx="795687" cy="812800"/>
          </a:xfrm>
        </p:grpSpPr>
        <p:sp>
          <p:nvSpPr>
            <p:cNvPr id="46" name="Freeform 46"/>
            <p:cNvSpPr/>
            <p:nvPr/>
          </p:nvSpPr>
          <p:spPr>
            <a:xfrm>
              <a:off x="0" y="0"/>
              <a:ext cx="795687" cy="812800"/>
            </a:xfrm>
            <a:custGeom>
              <a:avLst/>
              <a:gdLst/>
              <a:ahLst/>
              <a:cxnLst/>
              <a:rect l="l" t="t" r="r" b="b"/>
              <a:pathLst>
                <a:path w="795687" h="812800">
                  <a:moveTo>
                    <a:pt x="397843" y="0"/>
                  </a:moveTo>
                  <a:cubicBezTo>
                    <a:pt x="178121" y="0"/>
                    <a:pt x="0" y="181951"/>
                    <a:pt x="0" y="406400"/>
                  </a:cubicBezTo>
                  <a:cubicBezTo>
                    <a:pt x="0" y="630849"/>
                    <a:pt x="178121" y="812800"/>
                    <a:pt x="397843" y="812800"/>
                  </a:cubicBezTo>
                  <a:cubicBezTo>
                    <a:pt x="617566" y="812800"/>
                    <a:pt x="795687" y="630849"/>
                    <a:pt x="795687" y="406400"/>
                  </a:cubicBezTo>
                  <a:cubicBezTo>
                    <a:pt x="795687" y="181951"/>
                    <a:pt x="617566" y="0"/>
                    <a:pt x="397843" y="0"/>
                  </a:cubicBezTo>
                  <a:close/>
                </a:path>
              </a:pathLst>
            </a:custGeom>
            <a:solidFill>
              <a:srgbClr val="B23D44"/>
            </a:solidFill>
            <a:ln cap="sq">
              <a:noFill/>
              <a:prstDash val="solid"/>
              <a:miter/>
            </a:ln>
          </p:spPr>
          <p:txBody>
            <a:bodyPr/>
            <a:lstStyle/>
            <a:p>
              <a:endParaRPr lang="es-ES"/>
            </a:p>
          </p:txBody>
        </p:sp>
        <p:sp>
          <p:nvSpPr>
            <p:cNvPr id="47" name="TextBox 47"/>
            <p:cNvSpPr txBox="1"/>
            <p:nvPr/>
          </p:nvSpPr>
          <p:spPr>
            <a:xfrm>
              <a:off x="74596" y="57150"/>
              <a:ext cx="646496" cy="679450"/>
            </a:xfrm>
            <a:prstGeom prst="rect">
              <a:avLst/>
            </a:prstGeom>
          </p:spPr>
          <p:txBody>
            <a:bodyPr lIns="50800" tIns="50800" rIns="50800" bIns="50800" rtlCol="0" anchor="ctr"/>
            <a:lstStyle/>
            <a:p>
              <a:pPr marL="0" lvl="0" indent="0" algn="ctr">
                <a:lnSpc>
                  <a:spcPts val="2859"/>
                </a:lnSpc>
                <a:spcBef>
                  <a:spcPct val="0"/>
                </a:spcBef>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TextBox 2"/>
          <p:cNvSpPr txBox="1"/>
          <p:nvPr/>
        </p:nvSpPr>
        <p:spPr>
          <a:xfrm>
            <a:off x="1028700" y="904875"/>
            <a:ext cx="12015061" cy="1151255"/>
          </a:xfrm>
          <a:prstGeom prst="rect">
            <a:avLst/>
          </a:prstGeom>
        </p:spPr>
        <p:txBody>
          <a:bodyPr lIns="0" tIns="0" rIns="0" bIns="0" rtlCol="0" anchor="t">
            <a:spAutoFit/>
          </a:bodyPr>
          <a:lstStyle/>
          <a:p>
            <a:pPr marL="0" lvl="0" indent="0" algn="l">
              <a:lnSpc>
                <a:spcPts val="9520"/>
              </a:lnSpc>
              <a:spcBef>
                <a:spcPct val="0"/>
              </a:spcBef>
            </a:pPr>
            <a:r>
              <a:rPr lang="en-US" sz="6800" b="1" spc="-136">
                <a:solidFill>
                  <a:srgbClr val="191919"/>
                </a:solidFill>
                <a:latin typeface="Open Sauce Bold"/>
                <a:ea typeface="Open Sauce Bold"/>
                <a:cs typeface="Open Sauce Bold"/>
                <a:sym typeface="Open Sauce Bold"/>
              </a:rPr>
              <a:t>Carga de Trabajo Prevista</a:t>
            </a:r>
          </a:p>
        </p:txBody>
      </p:sp>
      <p:pic>
        <p:nvPicPr>
          <p:cNvPr id="3" name="Picture 3"/>
          <p:cNvPicPr>
            <a:picLocks noChangeAspect="1"/>
          </p:cNvPicPr>
          <p:nvPr/>
        </p:nvPicPr>
        <p:blipFill>
          <a:blip r:embed="rId2"/>
          <a:stretch>
            <a:fillRect/>
          </a:stretch>
        </p:blipFill>
        <p:spPr>
          <a:xfrm>
            <a:off x="2414868" y="2553828"/>
            <a:ext cx="13458263" cy="8167376"/>
          </a:xfrm>
          <a:prstGeom prst="rect">
            <a:avLst/>
          </a:prstGeom>
        </p:spPr>
      </p:pic>
      <p:sp>
        <p:nvSpPr>
          <p:cNvPr id="4" name="TextBox 4"/>
          <p:cNvSpPr txBox="1"/>
          <p:nvPr/>
        </p:nvSpPr>
        <p:spPr>
          <a:xfrm>
            <a:off x="12904715" y="2764444"/>
            <a:ext cx="2599432" cy="393700"/>
          </a:xfrm>
          <a:prstGeom prst="rect">
            <a:avLst/>
          </a:prstGeom>
        </p:spPr>
        <p:txBody>
          <a:bodyPr lIns="0" tIns="0" rIns="0" bIns="0" rtlCol="0" anchor="t">
            <a:spAutoFit/>
          </a:bodyPr>
          <a:lstStyle/>
          <a:p>
            <a:pPr algn="ctr">
              <a:lnSpc>
                <a:spcPts val="3199"/>
              </a:lnSpc>
              <a:spcBef>
                <a:spcPct val="0"/>
              </a:spcBef>
            </a:pPr>
            <a:r>
              <a:rPr lang="en-US" sz="2499">
                <a:solidFill>
                  <a:srgbClr val="191919"/>
                </a:solidFill>
                <a:latin typeface="Open Sauce"/>
                <a:ea typeface="Open Sauce"/>
                <a:cs typeface="Open Sauce"/>
                <a:sym typeface="Open Sauce"/>
              </a:rPr>
              <a:t>Estimado  32 pm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TextBox 2"/>
          <p:cNvSpPr txBox="1"/>
          <p:nvPr/>
        </p:nvSpPr>
        <p:spPr>
          <a:xfrm>
            <a:off x="1028700" y="904875"/>
            <a:ext cx="13469337" cy="1151255"/>
          </a:xfrm>
          <a:prstGeom prst="rect">
            <a:avLst/>
          </a:prstGeom>
        </p:spPr>
        <p:txBody>
          <a:bodyPr lIns="0" tIns="0" rIns="0" bIns="0" rtlCol="0" anchor="t">
            <a:spAutoFit/>
          </a:bodyPr>
          <a:lstStyle/>
          <a:p>
            <a:pPr marL="0" lvl="0" indent="0" algn="l">
              <a:lnSpc>
                <a:spcPts val="9520"/>
              </a:lnSpc>
              <a:spcBef>
                <a:spcPct val="0"/>
              </a:spcBef>
            </a:pPr>
            <a:r>
              <a:rPr lang="en-US" sz="6800" b="1" spc="-136">
                <a:solidFill>
                  <a:srgbClr val="191919"/>
                </a:solidFill>
                <a:latin typeface="Open Sauce Bold"/>
                <a:ea typeface="Open Sauce Bold"/>
                <a:cs typeface="Open Sauce Bold"/>
                <a:sym typeface="Open Sauce Bold"/>
              </a:rPr>
              <a:t>Visión Económica del Proyecto</a:t>
            </a:r>
          </a:p>
        </p:txBody>
      </p:sp>
      <p:sp>
        <p:nvSpPr>
          <p:cNvPr id="3" name="TextBox 3"/>
          <p:cNvSpPr txBox="1"/>
          <p:nvPr/>
        </p:nvSpPr>
        <p:spPr>
          <a:xfrm>
            <a:off x="8458579" y="3114373"/>
            <a:ext cx="8800721" cy="3594100"/>
          </a:xfrm>
          <a:prstGeom prst="rect">
            <a:avLst/>
          </a:prstGeom>
        </p:spPr>
        <p:txBody>
          <a:bodyPr lIns="0" tIns="0" rIns="0" bIns="0" rtlCol="0" anchor="t">
            <a:spAutoFit/>
          </a:bodyPr>
          <a:lstStyle/>
          <a:p>
            <a:pPr marL="539749" lvl="1" indent="-269875" algn="l">
              <a:lnSpc>
                <a:spcPts val="3199"/>
              </a:lnSpc>
              <a:buFont typeface="Arial"/>
              <a:buChar char="•"/>
            </a:pPr>
            <a:r>
              <a:rPr lang="en-US" sz="2499" dirty="0">
                <a:solidFill>
                  <a:srgbClr val="191919"/>
                </a:solidFill>
                <a:latin typeface="Open Sauce"/>
                <a:ea typeface="Open Sauce"/>
                <a:cs typeface="Open Sauce"/>
                <a:sym typeface="Open Sauce"/>
              </a:rPr>
              <a:t>El </a:t>
            </a:r>
            <a:r>
              <a:rPr lang="en-US" sz="2499" dirty="0" err="1">
                <a:solidFill>
                  <a:srgbClr val="191919"/>
                </a:solidFill>
                <a:latin typeface="Open Sauce"/>
                <a:ea typeface="Open Sauce"/>
                <a:cs typeface="Open Sauce"/>
                <a:sym typeface="Open Sauce"/>
              </a:rPr>
              <a:t>presupuesto</a:t>
            </a:r>
            <a:r>
              <a:rPr lang="en-US" sz="2499" dirty="0">
                <a:solidFill>
                  <a:srgbClr val="191919"/>
                </a:solidFill>
                <a:latin typeface="Open Sauce"/>
                <a:ea typeface="Open Sauce"/>
                <a:cs typeface="Open Sauce"/>
                <a:sym typeface="Open Sauce"/>
              </a:rPr>
              <a:t> total del </a:t>
            </a:r>
            <a:r>
              <a:rPr lang="en-US" sz="2499" dirty="0" err="1">
                <a:solidFill>
                  <a:srgbClr val="191919"/>
                </a:solidFill>
                <a:latin typeface="Open Sauce"/>
                <a:ea typeface="Open Sauce"/>
                <a:cs typeface="Open Sauce"/>
                <a:sym typeface="Open Sauce"/>
              </a:rPr>
              <a:t>proyecto</a:t>
            </a:r>
            <a:r>
              <a:rPr lang="en-US" sz="2499" dirty="0">
                <a:solidFill>
                  <a:srgbClr val="191919"/>
                </a:solidFill>
                <a:latin typeface="Open Sauce"/>
                <a:ea typeface="Open Sauce"/>
                <a:cs typeface="Open Sauce"/>
                <a:sym typeface="Open Sauce"/>
              </a:rPr>
              <a:t> es de 213.393,19 € </a:t>
            </a:r>
            <a:r>
              <a:rPr lang="en-US" sz="2499" dirty="0" err="1">
                <a:solidFill>
                  <a:srgbClr val="191919"/>
                </a:solidFill>
                <a:latin typeface="Open Sauce"/>
                <a:ea typeface="Open Sauce"/>
                <a:cs typeface="Open Sauce"/>
                <a:sym typeface="Open Sauce"/>
              </a:rPr>
              <a:t>incluyendo</a:t>
            </a:r>
            <a:r>
              <a:rPr lang="en-US" sz="2499" dirty="0">
                <a:solidFill>
                  <a:srgbClr val="191919"/>
                </a:solidFill>
                <a:latin typeface="Open Sauce"/>
                <a:ea typeface="Open Sauce"/>
                <a:cs typeface="Open Sauce"/>
                <a:sym typeface="Open Sauce"/>
              </a:rPr>
              <a:t>:</a:t>
            </a:r>
          </a:p>
          <a:p>
            <a:pPr algn="l">
              <a:lnSpc>
                <a:spcPts val="3199"/>
              </a:lnSpc>
            </a:pPr>
            <a:endParaRPr lang="en-US" sz="2499" dirty="0">
              <a:solidFill>
                <a:srgbClr val="191919"/>
              </a:solidFill>
              <a:latin typeface="Open Sauce"/>
              <a:ea typeface="Open Sauce"/>
              <a:cs typeface="Open Sauce"/>
              <a:sym typeface="Open Sauce"/>
            </a:endParaRPr>
          </a:p>
          <a:p>
            <a:pPr marL="1079499" lvl="2" indent="-359833" algn="l">
              <a:lnSpc>
                <a:spcPts val="3199"/>
              </a:lnSpc>
              <a:buFont typeface="Arial"/>
              <a:buChar char="⚬"/>
            </a:pPr>
            <a:r>
              <a:rPr lang="en-US" sz="2499" dirty="0">
                <a:solidFill>
                  <a:srgbClr val="191919"/>
                </a:solidFill>
                <a:latin typeface="Open Sauce"/>
                <a:ea typeface="Open Sauce"/>
                <a:cs typeface="Open Sauce"/>
                <a:sym typeface="Open Sauce"/>
              </a:rPr>
              <a:t>Desarrollo de </a:t>
            </a:r>
            <a:r>
              <a:rPr lang="en-US" sz="2499" dirty="0" err="1">
                <a:solidFill>
                  <a:srgbClr val="191919"/>
                </a:solidFill>
                <a:latin typeface="Open Sauce"/>
                <a:ea typeface="Open Sauce"/>
                <a:cs typeface="Open Sauce"/>
                <a:sym typeface="Open Sauce"/>
              </a:rPr>
              <a:t>todas</a:t>
            </a:r>
            <a:r>
              <a:rPr lang="en-US" sz="2499" dirty="0">
                <a:solidFill>
                  <a:srgbClr val="191919"/>
                </a:solidFill>
                <a:latin typeface="Open Sauce"/>
                <a:ea typeface="Open Sauce"/>
                <a:cs typeface="Open Sauce"/>
                <a:sym typeface="Open Sauce"/>
              </a:rPr>
              <a:t> las </a:t>
            </a:r>
            <a:r>
              <a:rPr lang="en-US" sz="2499" dirty="0" err="1">
                <a:solidFill>
                  <a:srgbClr val="191919"/>
                </a:solidFill>
                <a:latin typeface="Open Sauce"/>
                <a:ea typeface="Open Sauce"/>
                <a:cs typeface="Open Sauce"/>
                <a:sym typeface="Open Sauce"/>
              </a:rPr>
              <a:t>actividades</a:t>
            </a:r>
            <a:r>
              <a:rPr lang="en-US" sz="2499" dirty="0">
                <a:solidFill>
                  <a:srgbClr val="191919"/>
                </a:solidFill>
                <a:latin typeface="Open Sauce"/>
                <a:ea typeface="Open Sauce"/>
                <a:cs typeface="Open Sauce"/>
                <a:sym typeface="Open Sauce"/>
              </a:rPr>
              <a:t>.</a:t>
            </a:r>
          </a:p>
          <a:p>
            <a:pPr marL="1079499" lvl="2" indent="-359833" algn="l">
              <a:lnSpc>
                <a:spcPts val="3199"/>
              </a:lnSpc>
              <a:buFont typeface="Arial"/>
              <a:buChar char="⚬"/>
            </a:pPr>
            <a:r>
              <a:rPr lang="en-US" sz="2499" dirty="0" err="1">
                <a:solidFill>
                  <a:srgbClr val="191919"/>
                </a:solidFill>
                <a:latin typeface="Open Sauce"/>
                <a:ea typeface="Open Sauce"/>
                <a:cs typeface="Open Sauce"/>
                <a:sym typeface="Open Sauce"/>
              </a:rPr>
              <a:t>Subcontratación</a:t>
            </a:r>
            <a:r>
              <a:rPr lang="en-US" sz="2499" dirty="0">
                <a:solidFill>
                  <a:srgbClr val="191919"/>
                </a:solidFill>
                <a:latin typeface="Open Sauce"/>
                <a:ea typeface="Open Sauce"/>
                <a:cs typeface="Open Sauce"/>
                <a:sym typeface="Open Sauce"/>
              </a:rPr>
              <a:t> de </a:t>
            </a:r>
            <a:r>
              <a:rPr lang="en-US" sz="2499" dirty="0" err="1">
                <a:solidFill>
                  <a:srgbClr val="191919"/>
                </a:solidFill>
                <a:latin typeface="Open Sauce"/>
                <a:ea typeface="Open Sauce"/>
                <a:cs typeface="Open Sauce"/>
                <a:sym typeface="Open Sauce"/>
              </a:rPr>
              <a:t>servicios</a:t>
            </a:r>
            <a:r>
              <a:rPr lang="en-US" sz="2499" dirty="0">
                <a:solidFill>
                  <a:srgbClr val="191919"/>
                </a:solidFill>
                <a:latin typeface="Open Sauce"/>
                <a:ea typeface="Open Sauce"/>
                <a:cs typeface="Open Sauce"/>
                <a:sym typeface="Open Sauce"/>
              </a:rPr>
              <a:t> de marketing y </a:t>
            </a:r>
            <a:r>
              <a:rPr lang="en-US" sz="2499" dirty="0" err="1">
                <a:solidFill>
                  <a:srgbClr val="191919"/>
                </a:solidFill>
                <a:latin typeface="Open Sauce"/>
                <a:ea typeface="Open Sauce"/>
                <a:cs typeface="Open Sauce"/>
                <a:sym typeface="Open Sauce"/>
              </a:rPr>
              <a:t>publicidad</a:t>
            </a:r>
            <a:r>
              <a:rPr lang="en-US" sz="2499" dirty="0">
                <a:solidFill>
                  <a:srgbClr val="191919"/>
                </a:solidFill>
                <a:latin typeface="Open Sauce"/>
                <a:ea typeface="Open Sauce"/>
                <a:cs typeface="Open Sauce"/>
                <a:sym typeface="Open Sauce"/>
              </a:rPr>
              <a:t>.</a:t>
            </a:r>
          </a:p>
          <a:p>
            <a:pPr marL="1079499" lvl="2" indent="-359833" algn="l">
              <a:lnSpc>
                <a:spcPts val="3199"/>
              </a:lnSpc>
              <a:buFont typeface="Arial"/>
              <a:buChar char="⚬"/>
            </a:pPr>
            <a:r>
              <a:rPr lang="en-US" sz="2499" dirty="0" err="1">
                <a:solidFill>
                  <a:srgbClr val="191919"/>
                </a:solidFill>
                <a:latin typeface="Open Sauce"/>
                <a:ea typeface="Open Sauce"/>
                <a:cs typeface="Open Sauce"/>
                <a:sym typeface="Open Sauce"/>
              </a:rPr>
              <a:t>Margen</a:t>
            </a:r>
            <a:r>
              <a:rPr lang="en-US" sz="2499" dirty="0">
                <a:solidFill>
                  <a:srgbClr val="191919"/>
                </a:solidFill>
                <a:latin typeface="Open Sauce"/>
                <a:ea typeface="Open Sauce"/>
                <a:cs typeface="Open Sauce"/>
                <a:sym typeface="Open Sauce"/>
              </a:rPr>
              <a:t> de </a:t>
            </a:r>
            <a:r>
              <a:rPr lang="en-US" sz="2499" dirty="0" err="1">
                <a:solidFill>
                  <a:srgbClr val="191919"/>
                </a:solidFill>
                <a:latin typeface="Open Sauce"/>
                <a:ea typeface="Open Sauce"/>
                <a:cs typeface="Open Sauce"/>
                <a:sym typeface="Open Sauce"/>
              </a:rPr>
              <a:t>beneficio</a:t>
            </a:r>
            <a:r>
              <a:rPr lang="en-US" sz="2499" dirty="0">
                <a:solidFill>
                  <a:srgbClr val="191919"/>
                </a:solidFill>
                <a:latin typeface="Open Sauce"/>
                <a:ea typeface="Open Sauce"/>
                <a:cs typeface="Open Sauce"/>
                <a:sym typeface="Open Sauce"/>
              </a:rPr>
              <a:t> del 20%.</a:t>
            </a:r>
          </a:p>
          <a:p>
            <a:pPr marL="1079499" lvl="2" indent="-359833" algn="l">
              <a:lnSpc>
                <a:spcPts val="3199"/>
              </a:lnSpc>
              <a:buFont typeface="Arial"/>
              <a:buChar char="⚬"/>
            </a:pPr>
            <a:r>
              <a:rPr lang="en-US" sz="2499" dirty="0">
                <a:solidFill>
                  <a:srgbClr val="191919"/>
                </a:solidFill>
                <a:latin typeface="Open Sauce"/>
                <a:ea typeface="Open Sauce"/>
                <a:cs typeface="Open Sauce"/>
                <a:sym typeface="Open Sauce"/>
              </a:rPr>
              <a:t>Una </a:t>
            </a:r>
            <a:r>
              <a:rPr lang="en-US" sz="2499" dirty="0" err="1">
                <a:solidFill>
                  <a:srgbClr val="191919"/>
                </a:solidFill>
                <a:latin typeface="Open Sauce"/>
                <a:ea typeface="Open Sauce"/>
                <a:cs typeface="Open Sauce"/>
                <a:sym typeface="Open Sauce"/>
              </a:rPr>
              <a:t>reserva</a:t>
            </a:r>
            <a:r>
              <a:rPr lang="en-US" sz="2499" dirty="0">
                <a:solidFill>
                  <a:srgbClr val="191919"/>
                </a:solidFill>
                <a:latin typeface="Open Sauce"/>
                <a:ea typeface="Open Sauce"/>
                <a:cs typeface="Open Sauce"/>
                <a:sym typeface="Open Sauce"/>
              </a:rPr>
              <a:t> del 5% </a:t>
            </a:r>
            <a:r>
              <a:rPr lang="en-US" sz="2499" dirty="0" err="1">
                <a:solidFill>
                  <a:srgbClr val="191919"/>
                </a:solidFill>
                <a:latin typeface="Open Sauce"/>
                <a:ea typeface="Open Sauce"/>
                <a:cs typeface="Open Sauce"/>
                <a:sym typeface="Open Sauce"/>
              </a:rPr>
              <a:t>por</a:t>
            </a:r>
            <a:r>
              <a:rPr lang="en-US" sz="2499" dirty="0">
                <a:solidFill>
                  <a:srgbClr val="191919"/>
                </a:solidFill>
                <a:latin typeface="Open Sauce"/>
                <a:ea typeface="Open Sauce"/>
                <a:cs typeface="Open Sauce"/>
                <a:sym typeface="Open Sauce"/>
              </a:rPr>
              <a:t> </a:t>
            </a:r>
            <a:r>
              <a:rPr lang="en-US" sz="2499" dirty="0" err="1">
                <a:solidFill>
                  <a:srgbClr val="191919"/>
                </a:solidFill>
                <a:latin typeface="Open Sauce"/>
                <a:ea typeface="Open Sauce"/>
                <a:cs typeface="Open Sauce"/>
                <a:sym typeface="Open Sauce"/>
              </a:rPr>
              <a:t>incertidumbres</a:t>
            </a:r>
            <a:r>
              <a:rPr lang="en-US" sz="2499" dirty="0">
                <a:solidFill>
                  <a:srgbClr val="191919"/>
                </a:solidFill>
                <a:latin typeface="Open Sauce"/>
                <a:ea typeface="Open Sauce"/>
                <a:cs typeface="Open Sauce"/>
                <a:sym typeface="Open Sauce"/>
              </a:rPr>
              <a:t>.</a:t>
            </a:r>
          </a:p>
          <a:p>
            <a:pPr marL="1079499" lvl="2" indent="-359833" algn="l">
              <a:lnSpc>
                <a:spcPts val="3199"/>
              </a:lnSpc>
              <a:spcBef>
                <a:spcPct val="0"/>
              </a:spcBef>
              <a:buFont typeface="Arial"/>
              <a:buChar char="⚬"/>
            </a:pPr>
            <a:r>
              <a:rPr lang="en-US" sz="2499" dirty="0" err="1">
                <a:solidFill>
                  <a:srgbClr val="191919"/>
                </a:solidFill>
                <a:latin typeface="Open Sauce"/>
                <a:ea typeface="Open Sauce"/>
                <a:cs typeface="Open Sauce"/>
                <a:sym typeface="Open Sauce"/>
              </a:rPr>
              <a:t>Cálculo</a:t>
            </a:r>
            <a:r>
              <a:rPr lang="en-US" sz="2499" dirty="0">
                <a:solidFill>
                  <a:srgbClr val="191919"/>
                </a:solidFill>
                <a:latin typeface="Open Sauce"/>
                <a:ea typeface="Open Sauce"/>
                <a:cs typeface="Open Sauce"/>
                <a:sym typeface="Open Sauce"/>
              </a:rPr>
              <a:t> </a:t>
            </a:r>
            <a:r>
              <a:rPr lang="en-US" sz="2499" dirty="0" err="1">
                <a:solidFill>
                  <a:srgbClr val="191919"/>
                </a:solidFill>
                <a:latin typeface="Open Sauce"/>
                <a:ea typeface="Open Sauce"/>
                <a:cs typeface="Open Sauce"/>
                <a:sym typeface="Open Sauce"/>
              </a:rPr>
              <a:t>tras</a:t>
            </a:r>
            <a:r>
              <a:rPr lang="en-US" sz="2499" dirty="0">
                <a:solidFill>
                  <a:srgbClr val="191919"/>
                </a:solidFill>
                <a:latin typeface="Open Sauce"/>
                <a:ea typeface="Open Sauce"/>
                <a:cs typeface="Open Sauce"/>
                <a:sym typeface="Open Sauce"/>
              </a:rPr>
              <a:t> </a:t>
            </a:r>
            <a:r>
              <a:rPr lang="en-US" sz="2499" dirty="0" err="1">
                <a:solidFill>
                  <a:srgbClr val="191919"/>
                </a:solidFill>
                <a:latin typeface="Open Sauce"/>
                <a:ea typeface="Open Sauce"/>
                <a:cs typeface="Open Sauce"/>
                <a:sym typeface="Open Sauce"/>
              </a:rPr>
              <a:t>impuestos</a:t>
            </a:r>
            <a:r>
              <a:rPr lang="en-US" sz="2499" dirty="0">
                <a:solidFill>
                  <a:srgbClr val="191919"/>
                </a:solidFill>
                <a:latin typeface="Open Sauce"/>
                <a:ea typeface="Open Sauce"/>
                <a:cs typeface="Open Sauce"/>
                <a:sym typeface="Open Sauce"/>
              </a:rPr>
              <a:t> del IVA.</a:t>
            </a:r>
          </a:p>
        </p:txBody>
      </p:sp>
      <p:pic>
        <p:nvPicPr>
          <p:cNvPr id="4" name="Picture 4"/>
          <p:cNvPicPr>
            <a:picLocks noChangeAspect="1"/>
          </p:cNvPicPr>
          <p:nvPr/>
        </p:nvPicPr>
        <p:blipFill>
          <a:blip r:embed="rId2"/>
          <a:stretch>
            <a:fillRect/>
          </a:stretch>
        </p:blipFill>
        <p:spPr>
          <a:xfrm>
            <a:off x="-354882" y="3376315"/>
            <a:ext cx="11833104" cy="73955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737888" y="3565287"/>
            <a:ext cx="5334876" cy="2086085"/>
            <a:chOff x="0" y="0"/>
            <a:chExt cx="1234628" cy="482774"/>
          </a:xfrm>
        </p:grpSpPr>
        <p:sp>
          <p:nvSpPr>
            <p:cNvPr id="3" name="Freeform 3"/>
            <p:cNvSpPr/>
            <p:nvPr/>
          </p:nvSpPr>
          <p:spPr>
            <a:xfrm>
              <a:off x="0" y="0"/>
              <a:ext cx="1234628" cy="482774"/>
            </a:xfrm>
            <a:custGeom>
              <a:avLst/>
              <a:gdLst/>
              <a:ahLst/>
              <a:cxnLst/>
              <a:rect l="l" t="t" r="r" b="b"/>
              <a:pathLst>
                <a:path w="1234628" h="482774">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B23D44"/>
              </a:solidFill>
              <a:prstDash val="solid"/>
              <a:round/>
            </a:ln>
          </p:spPr>
          <p:txBody>
            <a:bodyPr/>
            <a:lstStyle/>
            <a:p>
              <a:endParaRPr lang="es-ES"/>
            </a:p>
          </p:txBody>
        </p:sp>
        <p:sp>
          <p:nvSpPr>
            <p:cNvPr id="4" name="TextBox 4"/>
            <p:cNvSpPr txBox="1"/>
            <p:nvPr/>
          </p:nvSpPr>
          <p:spPr>
            <a:xfrm>
              <a:off x="0" y="-38100"/>
              <a:ext cx="1234628" cy="520874"/>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5" name="Group 5"/>
          <p:cNvGrpSpPr/>
          <p:nvPr/>
        </p:nvGrpSpPr>
        <p:grpSpPr>
          <a:xfrm>
            <a:off x="12215235" y="3597785"/>
            <a:ext cx="5334876" cy="2086085"/>
            <a:chOff x="0" y="0"/>
            <a:chExt cx="1234628" cy="482774"/>
          </a:xfrm>
        </p:grpSpPr>
        <p:sp>
          <p:nvSpPr>
            <p:cNvPr id="6" name="Freeform 6"/>
            <p:cNvSpPr/>
            <p:nvPr/>
          </p:nvSpPr>
          <p:spPr>
            <a:xfrm>
              <a:off x="0" y="0"/>
              <a:ext cx="1234628" cy="482774"/>
            </a:xfrm>
            <a:custGeom>
              <a:avLst/>
              <a:gdLst/>
              <a:ahLst/>
              <a:cxnLst/>
              <a:rect l="l" t="t" r="r" b="b"/>
              <a:pathLst>
                <a:path w="1234628" h="482774">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B23D44"/>
              </a:solidFill>
              <a:prstDash val="solid"/>
              <a:round/>
            </a:ln>
          </p:spPr>
          <p:txBody>
            <a:bodyPr/>
            <a:lstStyle/>
            <a:p>
              <a:endParaRPr lang="es-ES"/>
            </a:p>
          </p:txBody>
        </p:sp>
        <p:sp>
          <p:nvSpPr>
            <p:cNvPr id="7" name="TextBox 7"/>
            <p:cNvSpPr txBox="1"/>
            <p:nvPr/>
          </p:nvSpPr>
          <p:spPr>
            <a:xfrm>
              <a:off x="0" y="-47625"/>
              <a:ext cx="1234628" cy="530399"/>
            </a:xfrm>
            <a:prstGeom prst="rect">
              <a:avLst/>
            </a:prstGeom>
          </p:spPr>
          <p:txBody>
            <a:bodyPr lIns="50800" tIns="50800" rIns="50800" bIns="50800" rtlCol="0" anchor="ctr"/>
            <a:lstStyle/>
            <a:p>
              <a:pPr marL="0" lvl="0" indent="0" algn="ctr">
                <a:lnSpc>
                  <a:spcPts val="3499"/>
                </a:lnSpc>
                <a:spcBef>
                  <a:spcPct val="0"/>
                </a:spcBef>
              </a:pPr>
              <a:r>
                <a:rPr lang="en-US" sz="2499" b="1">
                  <a:solidFill>
                    <a:srgbClr val="000000"/>
                  </a:solidFill>
                  <a:latin typeface="Open Sauce Bold"/>
                  <a:ea typeface="Open Sauce Bold"/>
                  <a:cs typeface="Open Sauce Bold"/>
                  <a:sym typeface="Open Sauce Bold"/>
                </a:rPr>
                <a:t>Problemas de seguridad de datos</a:t>
              </a:r>
            </a:p>
          </p:txBody>
        </p:sp>
      </p:grpSp>
      <p:grpSp>
        <p:nvGrpSpPr>
          <p:cNvPr id="8" name="Group 8"/>
          <p:cNvGrpSpPr/>
          <p:nvPr/>
        </p:nvGrpSpPr>
        <p:grpSpPr>
          <a:xfrm>
            <a:off x="9434812" y="6260506"/>
            <a:ext cx="5334876" cy="2086085"/>
            <a:chOff x="0" y="0"/>
            <a:chExt cx="1234628" cy="482774"/>
          </a:xfrm>
        </p:grpSpPr>
        <p:sp>
          <p:nvSpPr>
            <p:cNvPr id="9" name="Freeform 9"/>
            <p:cNvSpPr/>
            <p:nvPr/>
          </p:nvSpPr>
          <p:spPr>
            <a:xfrm>
              <a:off x="0" y="0"/>
              <a:ext cx="1234628" cy="482774"/>
            </a:xfrm>
            <a:custGeom>
              <a:avLst/>
              <a:gdLst/>
              <a:ahLst/>
              <a:cxnLst/>
              <a:rect l="l" t="t" r="r" b="b"/>
              <a:pathLst>
                <a:path w="1234628" h="482774">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B23D44"/>
              </a:solidFill>
              <a:prstDash val="solid"/>
              <a:round/>
            </a:ln>
          </p:spPr>
          <p:txBody>
            <a:bodyPr/>
            <a:lstStyle/>
            <a:p>
              <a:endParaRPr lang="es-ES"/>
            </a:p>
          </p:txBody>
        </p:sp>
        <p:sp>
          <p:nvSpPr>
            <p:cNvPr id="10" name="TextBox 10"/>
            <p:cNvSpPr txBox="1"/>
            <p:nvPr/>
          </p:nvSpPr>
          <p:spPr>
            <a:xfrm>
              <a:off x="0" y="-47625"/>
              <a:ext cx="1234628" cy="530399"/>
            </a:xfrm>
            <a:prstGeom prst="rect">
              <a:avLst/>
            </a:prstGeom>
          </p:spPr>
          <p:txBody>
            <a:bodyPr lIns="50800" tIns="50800" rIns="50800" bIns="50800" rtlCol="0" anchor="ctr"/>
            <a:lstStyle/>
            <a:p>
              <a:pPr marL="0" lvl="0" indent="0" algn="ctr">
                <a:lnSpc>
                  <a:spcPts val="3499"/>
                </a:lnSpc>
                <a:spcBef>
                  <a:spcPct val="0"/>
                </a:spcBef>
              </a:pPr>
              <a:r>
                <a:rPr lang="en-US" sz="2499" b="1">
                  <a:solidFill>
                    <a:srgbClr val="000000"/>
                  </a:solidFill>
                  <a:latin typeface="Open Sauce Bold"/>
                  <a:ea typeface="Open Sauce Bold"/>
                  <a:cs typeface="Open Sauce Bold"/>
                  <a:sym typeface="Open Sauce Bold"/>
                </a:rPr>
                <a:t>Costes de mantenimiento</a:t>
              </a:r>
            </a:p>
          </p:txBody>
        </p:sp>
      </p:grpSp>
      <p:grpSp>
        <p:nvGrpSpPr>
          <p:cNvPr id="11" name="Group 11"/>
          <p:cNvGrpSpPr/>
          <p:nvPr/>
        </p:nvGrpSpPr>
        <p:grpSpPr>
          <a:xfrm>
            <a:off x="3405327" y="6260506"/>
            <a:ext cx="5334876" cy="2086085"/>
            <a:chOff x="0" y="0"/>
            <a:chExt cx="1234628" cy="482774"/>
          </a:xfrm>
        </p:grpSpPr>
        <p:sp>
          <p:nvSpPr>
            <p:cNvPr id="12" name="Freeform 12"/>
            <p:cNvSpPr/>
            <p:nvPr/>
          </p:nvSpPr>
          <p:spPr>
            <a:xfrm>
              <a:off x="0" y="0"/>
              <a:ext cx="1234628" cy="482774"/>
            </a:xfrm>
            <a:custGeom>
              <a:avLst/>
              <a:gdLst/>
              <a:ahLst/>
              <a:cxnLst/>
              <a:rect l="l" t="t" r="r" b="b"/>
              <a:pathLst>
                <a:path w="1234628" h="482774">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B23D44"/>
              </a:solidFill>
              <a:prstDash val="solid"/>
              <a:round/>
            </a:ln>
          </p:spPr>
          <p:txBody>
            <a:bodyPr/>
            <a:lstStyle/>
            <a:p>
              <a:endParaRPr lang="es-ES"/>
            </a:p>
          </p:txBody>
        </p:sp>
        <p:sp>
          <p:nvSpPr>
            <p:cNvPr id="13" name="TextBox 13"/>
            <p:cNvSpPr txBox="1"/>
            <p:nvPr/>
          </p:nvSpPr>
          <p:spPr>
            <a:xfrm>
              <a:off x="0" y="-47625"/>
              <a:ext cx="1234628" cy="530399"/>
            </a:xfrm>
            <a:prstGeom prst="rect">
              <a:avLst/>
            </a:prstGeom>
          </p:spPr>
          <p:txBody>
            <a:bodyPr lIns="50800" tIns="50800" rIns="50800" bIns="50800" rtlCol="0" anchor="ctr"/>
            <a:lstStyle/>
            <a:p>
              <a:pPr marL="0" lvl="0" indent="0" algn="ctr">
                <a:lnSpc>
                  <a:spcPts val="3499"/>
                </a:lnSpc>
                <a:spcBef>
                  <a:spcPct val="0"/>
                </a:spcBef>
              </a:pPr>
              <a:r>
                <a:rPr lang="en-US" sz="2499" b="1">
                  <a:solidFill>
                    <a:srgbClr val="000000"/>
                  </a:solidFill>
                  <a:latin typeface="Open Sauce Bold"/>
                  <a:ea typeface="Open Sauce Bold"/>
                  <a:cs typeface="Open Sauce Bold"/>
                  <a:sym typeface="Open Sauce Bold"/>
                </a:rPr>
                <a:t>Restricción espacios aéreos</a:t>
              </a:r>
            </a:p>
          </p:txBody>
        </p:sp>
      </p:grpSp>
      <p:grpSp>
        <p:nvGrpSpPr>
          <p:cNvPr id="14" name="Group 14"/>
          <p:cNvGrpSpPr/>
          <p:nvPr/>
        </p:nvGrpSpPr>
        <p:grpSpPr>
          <a:xfrm>
            <a:off x="737888" y="3565287"/>
            <a:ext cx="5334876" cy="2086085"/>
            <a:chOff x="0" y="0"/>
            <a:chExt cx="1234628" cy="482774"/>
          </a:xfrm>
        </p:grpSpPr>
        <p:sp>
          <p:nvSpPr>
            <p:cNvPr id="15" name="Freeform 15"/>
            <p:cNvSpPr/>
            <p:nvPr/>
          </p:nvSpPr>
          <p:spPr>
            <a:xfrm>
              <a:off x="0" y="0"/>
              <a:ext cx="1234628" cy="482774"/>
            </a:xfrm>
            <a:custGeom>
              <a:avLst/>
              <a:gdLst/>
              <a:ahLst/>
              <a:cxnLst/>
              <a:rect l="l" t="t" r="r" b="b"/>
              <a:pathLst>
                <a:path w="1234628" h="482774">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B23D44"/>
              </a:solidFill>
              <a:prstDash val="solid"/>
              <a:round/>
            </a:ln>
          </p:spPr>
          <p:txBody>
            <a:bodyPr/>
            <a:lstStyle/>
            <a:p>
              <a:endParaRPr lang="es-ES"/>
            </a:p>
          </p:txBody>
        </p:sp>
        <p:sp>
          <p:nvSpPr>
            <p:cNvPr id="16" name="TextBox 16"/>
            <p:cNvSpPr txBox="1"/>
            <p:nvPr/>
          </p:nvSpPr>
          <p:spPr>
            <a:xfrm>
              <a:off x="0" y="-47625"/>
              <a:ext cx="1234628" cy="530399"/>
            </a:xfrm>
            <a:prstGeom prst="rect">
              <a:avLst/>
            </a:prstGeom>
          </p:spPr>
          <p:txBody>
            <a:bodyPr lIns="50800" tIns="50800" rIns="50800" bIns="50800" rtlCol="0" anchor="ctr"/>
            <a:lstStyle/>
            <a:p>
              <a:pPr marL="0" lvl="0" indent="0" algn="ctr">
                <a:lnSpc>
                  <a:spcPts val="3499"/>
                </a:lnSpc>
                <a:spcBef>
                  <a:spcPct val="0"/>
                </a:spcBef>
              </a:pPr>
              <a:r>
                <a:rPr lang="en-US" sz="2499" b="1">
                  <a:solidFill>
                    <a:srgbClr val="000000"/>
                  </a:solidFill>
                  <a:latin typeface="Open Sauce Bold"/>
                  <a:ea typeface="Open Sauce Bold"/>
                  <a:cs typeface="Open Sauce Bold"/>
                  <a:sym typeface="Open Sauce Bold"/>
                </a:rPr>
                <a:t>Condiciones meteorológicas adversas</a:t>
              </a:r>
            </a:p>
          </p:txBody>
        </p:sp>
      </p:grpSp>
      <p:grpSp>
        <p:nvGrpSpPr>
          <p:cNvPr id="17" name="Group 17"/>
          <p:cNvGrpSpPr/>
          <p:nvPr/>
        </p:nvGrpSpPr>
        <p:grpSpPr>
          <a:xfrm>
            <a:off x="6420069" y="3597785"/>
            <a:ext cx="5334876" cy="2086085"/>
            <a:chOff x="0" y="0"/>
            <a:chExt cx="1234628" cy="482774"/>
          </a:xfrm>
        </p:grpSpPr>
        <p:sp>
          <p:nvSpPr>
            <p:cNvPr id="18" name="Freeform 18"/>
            <p:cNvSpPr/>
            <p:nvPr/>
          </p:nvSpPr>
          <p:spPr>
            <a:xfrm>
              <a:off x="0" y="0"/>
              <a:ext cx="1234628" cy="482774"/>
            </a:xfrm>
            <a:custGeom>
              <a:avLst/>
              <a:gdLst/>
              <a:ahLst/>
              <a:cxnLst/>
              <a:rect l="l" t="t" r="r" b="b"/>
              <a:pathLst>
                <a:path w="1234628" h="482774">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B23D44"/>
              </a:solidFill>
              <a:prstDash val="solid"/>
              <a:round/>
            </a:ln>
          </p:spPr>
          <p:txBody>
            <a:bodyPr/>
            <a:lstStyle/>
            <a:p>
              <a:endParaRPr lang="es-ES"/>
            </a:p>
          </p:txBody>
        </p:sp>
        <p:sp>
          <p:nvSpPr>
            <p:cNvPr id="19" name="TextBox 19"/>
            <p:cNvSpPr txBox="1"/>
            <p:nvPr/>
          </p:nvSpPr>
          <p:spPr>
            <a:xfrm>
              <a:off x="0" y="-47625"/>
              <a:ext cx="1234628" cy="530399"/>
            </a:xfrm>
            <a:prstGeom prst="rect">
              <a:avLst/>
            </a:prstGeom>
          </p:spPr>
          <p:txBody>
            <a:bodyPr lIns="50800" tIns="50800" rIns="50800" bIns="50800" rtlCol="0" anchor="ctr"/>
            <a:lstStyle/>
            <a:p>
              <a:pPr marL="0" lvl="0" indent="0" algn="ctr">
                <a:lnSpc>
                  <a:spcPts val="3499"/>
                </a:lnSpc>
                <a:spcBef>
                  <a:spcPct val="0"/>
                </a:spcBef>
              </a:pPr>
              <a:r>
                <a:rPr lang="en-US" sz="2499" b="1">
                  <a:solidFill>
                    <a:srgbClr val="000000"/>
                  </a:solidFill>
                  <a:latin typeface="Open Sauce Bold"/>
                  <a:ea typeface="Open Sauce Bold"/>
                  <a:cs typeface="Open Sauce Bold"/>
                  <a:sym typeface="Open Sauce Bold"/>
                </a:rPr>
                <a:t>Fallo en el sistema autónomo de drones</a:t>
              </a:r>
            </a:p>
          </p:txBody>
        </p:sp>
      </p:grpSp>
      <p:sp>
        <p:nvSpPr>
          <p:cNvPr id="20" name="Freeform 20"/>
          <p:cNvSpPr/>
          <p:nvPr/>
        </p:nvSpPr>
        <p:spPr>
          <a:xfrm>
            <a:off x="16601565" y="4608050"/>
            <a:ext cx="706853" cy="952866"/>
          </a:xfrm>
          <a:custGeom>
            <a:avLst/>
            <a:gdLst/>
            <a:ahLst/>
            <a:cxnLst/>
            <a:rect l="l" t="t" r="r" b="b"/>
            <a:pathLst>
              <a:path w="706853" h="952866">
                <a:moveTo>
                  <a:pt x="0" y="0"/>
                </a:moveTo>
                <a:lnTo>
                  <a:pt x="706853" y="0"/>
                </a:lnTo>
                <a:lnTo>
                  <a:pt x="706853" y="952865"/>
                </a:lnTo>
                <a:lnTo>
                  <a:pt x="0" y="9528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21" name="Freeform 21"/>
          <p:cNvSpPr/>
          <p:nvPr/>
        </p:nvSpPr>
        <p:spPr>
          <a:xfrm>
            <a:off x="13552679" y="7424881"/>
            <a:ext cx="971412" cy="782879"/>
          </a:xfrm>
          <a:custGeom>
            <a:avLst/>
            <a:gdLst/>
            <a:ahLst/>
            <a:cxnLst/>
            <a:rect l="l" t="t" r="r" b="b"/>
            <a:pathLst>
              <a:path w="971412" h="782879">
                <a:moveTo>
                  <a:pt x="0" y="0"/>
                </a:moveTo>
                <a:lnTo>
                  <a:pt x="971412" y="0"/>
                </a:lnTo>
                <a:lnTo>
                  <a:pt x="971412" y="782879"/>
                </a:lnTo>
                <a:lnTo>
                  <a:pt x="0" y="7828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ES"/>
          </a:p>
        </p:txBody>
      </p:sp>
      <p:sp>
        <p:nvSpPr>
          <p:cNvPr id="22" name="Freeform 22"/>
          <p:cNvSpPr/>
          <p:nvPr/>
        </p:nvSpPr>
        <p:spPr>
          <a:xfrm>
            <a:off x="7764368" y="7490259"/>
            <a:ext cx="769686" cy="706712"/>
          </a:xfrm>
          <a:custGeom>
            <a:avLst/>
            <a:gdLst/>
            <a:ahLst/>
            <a:cxnLst/>
            <a:rect l="l" t="t" r="r" b="b"/>
            <a:pathLst>
              <a:path w="769686" h="706712">
                <a:moveTo>
                  <a:pt x="0" y="0"/>
                </a:moveTo>
                <a:lnTo>
                  <a:pt x="769686" y="0"/>
                </a:lnTo>
                <a:lnTo>
                  <a:pt x="769686" y="706712"/>
                </a:lnTo>
                <a:lnTo>
                  <a:pt x="0" y="7067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ES"/>
          </a:p>
        </p:txBody>
      </p:sp>
      <p:sp>
        <p:nvSpPr>
          <p:cNvPr id="23" name="Freeform 23"/>
          <p:cNvSpPr/>
          <p:nvPr/>
        </p:nvSpPr>
        <p:spPr>
          <a:xfrm>
            <a:off x="4854889" y="4640827"/>
            <a:ext cx="1040524" cy="862689"/>
          </a:xfrm>
          <a:custGeom>
            <a:avLst/>
            <a:gdLst/>
            <a:ahLst/>
            <a:cxnLst/>
            <a:rect l="l" t="t" r="r" b="b"/>
            <a:pathLst>
              <a:path w="1040524" h="862689">
                <a:moveTo>
                  <a:pt x="0" y="0"/>
                </a:moveTo>
                <a:lnTo>
                  <a:pt x="1040524" y="0"/>
                </a:lnTo>
                <a:lnTo>
                  <a:pt x="1040524" y="862689"/>
                </a:lnTo>
                <a:lnTo>
                  <a:pt x="0" y="8626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ES"/>
          </a:p>
        </p:txBody>
      </p:sp>
      <p:sp>
        <p:nvSpPr>
          <p:cNvPr id="24" name="Freeform 24"/>
          <p:cNvSpPr/>
          <p:nvPr/>
        </p:nvSpPr>
        <p:spPr>
          <a:xfrm>
            <a:off x="10258286" y="4793489"/>
            <a:ext cx="1337663" cy="722338"/>
          </a:xfrm>
          <a:custGeom>
            <a:avLst/>
            <a:gdLst/>
            <a:ahLst/>
            <a:cxnLst/>
            <a:rect l="l" t="t" r="r" b="b"/>
            <a:pathLst>
              <a:path w="1337663" h="722338">
                <a:moveTo>
                  <a:pt x="0" y="0"/>
                </a:moveTo>
                <a:lnTo>
                  <a:pt x="1337664" y="0"/>
                </a:lnTo>
                <a:lnTo>
                  <a:pt x="1337664" y="722338"/>
                </a:lnTo>
                <a:lnTo>
                  <a:pt x="0" y="72233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ES"/>
          </a:p>
        </p:txBody>
      </p:sp>
      <p:sp>
        <p:nvSpPr>
          <p:cNvPr id="25" name="TextBox 25"/>
          <p:cNvSpPr txBox="1"/>
          <p:nvPr/>
        </p:nvSpPr>
        <p:spPr>
          <a:xfrm>
            <a:off x="1028700" y="904875"/>
            <a:ext cx="7761387" cy="1151255"/>
          </a:xfrm>
          <a:prstGeom prst="rect">
            <a:avLst/>
          </a:prstGeom>
        </p:spPr>
        <p:txBody>
          <a:bodyPr lIns="0" tIns="0" rIns="0" bIns="0" rtlCol="0" anchor="t">
            <a:spAutoFit/>
          </a:bodyPr>
          <a:lstStyle/>
          <a:p>
            <a:pPr marL="0" lvl="0" indent="0" algn="l">
              <a:lnSpc>
                <a:spcPts val="9520"/>
              </a:lnSpc>
              <a:spcBef>
                <a:spcPct val="0"/>
              </a:spcBef>
            </a:pPr>
            <a:r>
              <a:rPr lang="en-US" sz="6800" b="1" spc="-136">
                <a:solidFill>
                  <a:srgbClr val="191919"/>
                </a:solidFill>
                <a:latin typeface="Open Sauce Bold"/>
                <a:ea typeface="Open Sauce Bold"/>
                <a:cs typeface="Open Sauce Bold"/>
                <a:sym typeface="Open Sauce Bold"/>
              </a:rPr>
              <a:t>Posibles Riesgos</a:t>
            </a:r>
          </a:p>
        </p:txBody>
      </p:sp>
      <p:grpSp>
        <p:nvGrpSpPr>
          <p:cNvPr id="26" name="Group 26"/>
          <p:cNvGrpSpPr/>
          <p:nvPr/>
        </p:nvGrpSpPr>
        <p:grpSpPr>
          <a:xfrm>
            <a:off x="14185628" y="-3339930"/>
            <a:ext cx="5538727" cy="5657850"/>
            <a:chOff x="0" y="0"/>
            <a:chExt cx="795687" cy="812800"/>
          </a:xfrm>
        </p:grpSpPr>
        <p:sp>
          <p:nvSpPr>
            <p:cNvPr id="27" name="Freeform 27"/>
            <p:cNvSpPr/>
            <p:nvPr/>
          </p:nvSpPr>
          <p:spPr>
            <a:xfrm>
              <a:off x="0" y="0"/>
              <a:ext cx="795687" cy="812800"/>
            </a:xfrm>
            <a:custGeom>
              <a:avLst/>
              <a:gdLst/>
              <a:ahLst/>
              <a:cxnLst/>
              <a:rect l="l" t="t" r="r" b="b"/>
              <a:pathLst>
                <a:path w="795687" h="812800">
                  <a:moveTo>
                    <a:pt x="397843" y="0"/>
                  </a:moveTo>
                  <a:cubicBezTo>
                    <a:pt x="178121" y="0"/>
                    <a:pt x="0" y="181951"/>
                    <a:pt x="0" y="406400"/>
                  </a:cubicBezTo>
                  <a:cubicBezTo>
                    <a:pt x="0" y="630849"/>
                    <a:pt x="178121" y="812800"/>
                    <a:pt x="397843" y="812800"/>
                  </a:cubicBezTo>
                  <a:cubicBezTo>
                    <a:pt x="617566" y="812800"/>
                    <a:pt x="795687" y="630849"/>
                    <a:pt x="795687" y="406400"/>
                  </a:cubicBezTo>
                  <a:cubicBezTo>
                    <a:pt x="795687" y="181951"/>
                    <a:pt x="617566" y="0"/>
                    <a:pt x="397843" y="0"/>
                  </a:cubicBezTo>
                  <a:close/>
                </a:path>
              </a:pathLst>
            </a:custGeom>
            <a:solidFill>
              <a:srgbClr val="B23D44"/>
            </a:solidFill>
            <a:ln cap="sq">
              <a:noFill/>
              <a:prstDash val="solid"/>
              <a:miter/>
            </a:ln>
          </p:spPr>
          <p:txBody>
            <a:bodyPr/>
            <a:lstStyle/>
            <a:p>
              <a:endParaRPr lang="es-ES"/>
            </a:p>
          </p:txBody>
        </p:sp>
        <p:sp>
          <p:nvSpPr>
            <p:cNvPr id="28" name="TextBox 28"/>
            <p:cNvSpPr txBox="1"/>
            <p:nvPr/>
          </p:nvSpPr>
          <p:spPr>
            <a:xfrm>
              <a:off x="74596" y="57150"/>
              <a:ext cx="646496" cy="67945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29" name="Freeform 29"/>
          <p:cNvSpPr/>
          <p:nvPr/>
        </p:nvSpPr>
        <p:spPr>
          <a:xfrm rot="-10800000">
            <a:off x="841044" y="5711011"/>
            <a:ext cx="5128563" cy="381636"/>
          </a:xfrm>
          <a:custGeom>
            <a:avLst/>
            <a:gdLst/>
            <a:ahLst/>
            <a:cxnLst/>
            <a:rect l="l" t="t" r="r" b="b"/>
            <a:pathLst>
              <a:path w="5128563" h="381636">
                <a:moveTo>
                  <a:pt x="0" y="0"/>
                </a:moveTo>
                <a:lnTo>
                  <a:pt x="5128563" y="0"/>
                </a:lnTo>
                <a:lnTo>
                  <a:pt x="5128563" y="381637"/>
                </a:lnTo>
                <a:lnTo>
                  <a:pt x="0" y="381637"/>
                </a:lnTo>
                <a:lnTo>
                  <a:pt x="0" y="0"/>
                </a:lnTo>
                <a:close/>
              </a:path>
            </a:pathLst>
          </a:custGeom>
          <a:blipFill>
            <a:blip r:embed="rId12">
              <a:alphaModFix amt="72000"/>
            </a:blip>
            <a:stretch>
              <a:fillRect b="-286352"/>
            </a:stretch>
          </a:blipFill>
        </p:spPr>
        <p:txBody>
          <a:bodyPr/>
          <a:lstStyle/>
          <a:p>
            <a:endParaRPr lang="es-ES"/>
          </a:p>
        </p:txBody>
      </p:sp>
      <p:sp>
        <p:nvSpPr>
          <p:cNvPr id="30" name="Freeform 30"/>
          <p:cNvSpPr/>
          <p:nvPr/>
        </p:nvSpPr>
        <p:spPr>
          <a:xfrm rot="-10800000">
            <a:off x="6544885" y="5729251"/>
            <a:ext cx="5128563" cy="381636"/>
          </a:xfrm>
          <a:custGeom>
            <a:avLst/>
            <a:gdLst/>
            <a:ahLst/>
            <a:cxnLst/>
            <a:rect l="l" t="t" r="r" b="b"/>
            <a:pathLst>
              <a:path w="5128563" h="381636">
                <a:moveTo>
                  <a:pt x="0" y="0"/>
                </a:moveTo>
                <a:lnTo>
                  <a:pt x="5128564" y="0"/>
                </a:lnTo>
                <a:lnTo>
                  <a:pt x="5128564" y="381636"/>
                </a:lnTo>
                <a:lnTo>
                  <a:pt x="0" y="381636"/>
                </a:lnTo>
                <a:lnTo>
                  <a:pt x="0" y="0"/>
                </a:lnTo>
                <a:close/>
              </a:path>
            </a:pathLst>
          </a:custGeom>
          <a:blipFill>
            <a:blip r:embed="rId12">
              <a:alphaModFix amt="72000"/>
            </a:blip>
            <a:stretch>
              <a:fillRect b="-286352"/>
            </a:stretch>
          </a:blipFill>
        </p:spPr>
        <p:txBody>
          <a:bodyPr/>
          <a:lstStyle/>
          <a:p>
            <a:endParaRPr lang="es-ES" dirty="0"/>
          </a:p>
        </p:txBody>
      </p:sp>
      <p:sp>
        <p:nvSpPr>
          <p:cNvPr id="31" name="Freeform 31"/>
          <p:cNvSpPr/>
          <p:nvPr/>
        </p:nvSpPr>
        <p:spPr>
          <a:xfrm rot="-10800000">
            <a:off x="12352135" y="5707161"/>
            <a:ext cx="5128563" cy="381636"/>
          </a:xfrm>
          <a:custGeom>
            <a:avLst/>
            <a:gdLst/>
            <a:ahLst/>
            <a:cxnLst/>
            <a:rect l="l" t="t" r="r" b="b"/>
            <a:pathLst>
              <a:path w="5128563" h="381636">
                <a:moveTo>
                  <a:pt x="0" y="0"/>
                </a:moveTo>
                <a:lnTo>
                  <a:pt x="5128563" y="0"/>
                </a:lnTo>
                <a:lnTo>
                  <a:pt x="5128563" y="381636"/>
                </a:lnTo>
                <a:lnTo>
                  <a:pt x="0" y="381636"/>
                </a:lnTo>
                <a:lnTo>
                  <a:pt x="0" y="0"/>
                </a:lnTo>
                <a:close/>
              </a:path>
            </a:pathLst>
          </a:custGeom>
          <a:blipFill>
            <a:blip r:embed="rId12">
              <a:alphaModFix amt="72000"/>
            </a:blip>
            <a:stretch>
              <a:fillRect b="-286352"/>
            </a:stretch>
          </a:blipFill>
        </p:spPr>
        <p:txBody>
          <a:bodyPr/>
          <a:lstStyle/>
          <a:p>
            <a:endParaRPr lang="es-ES"/>
          </a:p>
        </p:txBody>
      </p:sp>
      <p:sp>
        <p:nvSpPr>
          <p:cNvPr id="32" name="Freeform 32"/>
          <p:cNvSpPr/>
          <p:nvPr/>
        </p:nvSpPr>
        <p:spPr>
          <a:xfrm rot="-10800000">
            <a:off x="9576323" y="8394699"/>
            <a:ext cx="5128563" cy="381636"/>
          </a:xfrm>
          <a:custGeom>
            <a:avLst/>
            <a:gdLst/>
            <a:ahLst/>
            <a:cxnLst/>
            <a:rect l="l" t="t" r="r" b="b"/>
            <a:pathLst>
              <a:path w="5128563" h="381636">
                <a:moveTo>
                  <a:pt x="0" y="0"/>
                </a:moveTo>
                <a:lnTo>
                  <a:pt x="5128563" y="0"/>
                </a:lnTo>
                <a:lnTo>
                  <a:pt x="5128563" y="381637"/>
                </a:lnTo>
                <a:lnTo>
                  <a:pt x="0" y="381637"/>
                </a:lnTo>
                <a:lnTo>
                  <a:pt x="0" y="0"/>
                </a:lnTo>
                <a:close/>
              </a:path>
            </a:pathLst>
          </a:custGeom>
          <a:blipFill>
            <a:blip r:embed="rId12">
              <a:alphaModFix amt="72000"/>
            </a:blip>
            <a:stretch>
              <a:fillRect b="-286352"/>
            </a:stretch>
          </a:blipFill>
        </p:spPr>
        <p:txBody>
          <a:bodyPr/>
          <a:lstStyle/>
          <a:p>
            <a:endParaRPr lang="es-ES"/>
          </a:p>
        </p:txBody>
      </p:sp>
      <p:sp>
        <p:nvSpPr>
          <p:cNvPr id="33" name="Freeform 33"/>
          <p:cNvSpPr/>
          <p:nvPr/>
        </p:nvSpPr>
        <p:spPr>
          <a:xfrm rot="-10800000">
            <a:off x="3508482" y="8394699"/>
            <a:ext cx="5128563" cy="381636"/>
          </a:xfrm>
          <a:custGeom>
            <a:avLst/>
            <a:gdLst/>
            <a:ahLst/>
            <a:cxnLst/>
            <a:rect l="l" t="t" r="r" b="b"/>
            <a:pathLst>
              <a:path w="5128563" h="381636">
                <a:moveTo>
                  <a:pt x="0" y="0"/>
                </a:moveTo>
                <a:lnTo>
                  <a:pt x="5128563" y="0"/>
                </a:lnTo>
                <a:lnTo>
                  <a:pt x="5128563" y="381636"/>
                </a:lnTo>
                <a:lnTo>
                  <a:pt x="0" y="381636"/>
                </a:lnTo>
                <a:lnTo>
                  <a:pt x="0" y="0"/>
                </a:lnTo>
                <a:close/>
              </a:path>
            </a:pathLst>
          </a:custGeom>
          <a:blipFill>
            <a:blip r:embed="rId12">
              <a:alphaModFix amt="72000"/>
            </a:blip>
            <a:stretch>
              <a:fillRect b="-286352"/>
            </a:stretch>
          </a:blipFill>
        </p:spPr>
        <p:txBody>
          <a:bodyPr/>
          <a:lstStyle/>
          <a:p>
            <a:endParaRPr lang="es-E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565254" y="7759389"/>
            <a:ext cx="4424694" cy="4519857"/>
            <a:chOff x="0" y="0"/>
            <a:chExt cx="795687" cy="812800"/>
          </a:xfrm>
        </p:grpSpPr>
        <p:sp>
          <p:nvSpPr>
            <p:cNvPr id="3" name="Freeform 3"/>
            <p:cNvSpPr/>
            <p:nvPr/>
          </p:nvSpPr>
          <p:spPr>
            <a:xfrm>
              <a:off x="0" y="0"/>
              <a:ext cx="795687" cy="812800"/>
            </a:xfrm>
            <a:custGeom>
              <a:avLst/>
              <a:gdLst/>
              <a:ahLst/>
              <a:cxnLst/>
              <a:rect l="l" t="t" r="r" b="b"/>
              <a:pathLst>
                <a:path w="795687" h="812800">
                  <a:moveTo>
                    <a:pt x="397843" y="0"/>
                  </a:moveTo>
                  <a:cubicBezTo>
                    <a:pt x="178121" y="0"/>
                    <a:pt x="0" y="181951"/>
                    <a:pt x="0" y="406400"/>
                  </a:cubicBezTo>
                  <a:cubicBezTo>
                    <a:pt x="0" y="630849"/>
                    <a:pt x="178121" y="812800"/>
                    <a:pt x="397843" y="812800"/>
                  </a:cubicBezTo>
                  <a:cubicBezTo>
                    <a:pt x="617566" y="812800"/>
                    <a:pt x="795687" y="630849"/>
                    <a:pt x="795687" y="406400"/>
                  </a:cubicBezTo>
                  <a:cubicBezTo>
                    <a:pt x="795687" y="181951"/>
                    <a:pt x="617566" y="0"/>
                    <a:pt x="397843" y="0"/>
                  </a:cubicBezTo>
                  <a:close/>
                </a:path>
              </a:pathLst>
            </a:custGeom>
            <a:solidFill>
              <a:srgbClr val="B23D44"/>
            </a:solidFill>
            <a:ln cap="sq">
              <a:noFill/>
              <a:prstDash val="solid"/>
              <a:miter/>
            </a:ln>
          </p:spPr>
          <p:txBody>
            <a:bodyPr/>
            <a:lstStyle/>
            <a:p>
              <a:endParaRPr lang="es-ES"/>
            </a:p>
          </p:txBody>
        </p:sp>
        <p:sp>
          <p:nvSpPr>
            <p:cNvPr id="4" name="TextBox 4"/>
            <p:cNvSpPr txBox="1"/>
            <p:nvPr/>
          </p:nvSpPr>
          <p:spPr>
            <a:xfrm>
              <a:off x="74596" y="57150"/>
              <a:ext cx="646496" cy="67945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5" name="Freeform 5"/>
          <p:cNvSpPr/>
          <p:nvPr/>
        </p:nvSpPr>
        <p:spPr>
          <a:xfrm>
            <a:off x="3259437" y="4007834"/>
            <a:ext cx="1330780" cy="1436739"/>
          </a:xfrm>
          <a:custGeom>
            <a:avLst/>
            <a:gdLst/>
            <a:ahLst/>
            <a:cxnLst/>
            <a:rect l="l" t="t" r="r" b="b"/>
            <a:pathLst>
              <a:path w="1330780" h="1436739">
                <a:moveTo>
                  <a:pt x="0" y="0"/>
                </a:moveTo>
                <a:lnTo>
                  <a:pt x="1330779" y="0"/>
                </a:lnTo>
                <a:lnTo>
                  <a:pt x="1330779" y="1436739"/>
                </a:lnTo>
                <a:lnTo>
                  <a:pt x="0" y="14367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grpSp>
        <p:nvGrpSpPr>
          <p:cNvPr id="6" name="Group 6"/>
          <p:cNvGrpSpPr/>
          <p:nvPr/>
        </p:nvGrpSpPr>
        <p:grpSpPr>
          <a:xfrm>
            <a:off x="2871769" y="8333136"/>
            <a:ext cx="775335" cy="792011"/>
            <a:chOff x="0" y="0"/>
            <a:chExt cx="795687" cy="812800"/>
          </a:xfrm>
        </p:grpSpPr>
        <p:sp>
          <p:nvSpPr>
            <p:cNvPr id="7" name="Freeform 7"/>
            <p:cNvSpPr/>
            <p:nvPr/>
          </p:nvSpPr>
          <p:spPr>
            <a:xfrm>
              <a:off x="0" y="0"/>
              <a:ext cx="795687" cy="812800"/>
            </a:xfrm>
            <a:custGeom>
              <a:avLst/>
              <a:gdLst/>
              <a:ahLst/>
              <a:cxnLst/>
              <a:rect l="l" t="t" r="r" b="b"/>
              <a:pathLst>
                <a:path w="795687" h="812800">
                  <a:moveTo>
                    <a:pt x="397843" y="0"/>
                  </a:moveTo>
                  <a:cubicBezTo>
                    <a:pt x="178121" y="0"/>
                    <a:pt x="0" y="181951"/>
                    <a:pt x="0" y="406400"/>
                  </a:cubicBezTo>
                  <a:cubicBezTo>
                    <a:pt x="0" y="630849"/>
                    <a:pt x="178121" y="812800"/>
                    <a:pt x="397843" y="812800"/>
                  </a:cubicBezTo>
                  <a:cubicBezTo>
                    <a:pt x="617566" y="812800"/>
                    <a:pt x="795687" y="630849"/>
                    <a:pt x="795687" y="406400"/>
                  </a:cubicBezTo>
                  <a:cubicBezTo>
                    <a:pt x="795687" y="181951"/>
                    <a:pt x="617566" y="0"/>
                    <a:pt x="397843" y="0"/>
                  </a:cubicBezTo>
                  <a:close/>
                </a:path>
              </a:pathLst>
            </a:custGeom>
            <a:solidFill>
              <a:srgbClr val="B23D44"/>
            </a:solidFill>
            <a:ln cap="sq">
              <a:noFill/>
              <a:prstDash val="solid"/>
              <a:miter/>
            </a:ln>
          </p:spPr>
          <p:txBody>
            <a:bodyPr/>
            <a:lstStyle/>
            <a:p>
              <a:endParaRPr lang="es-ES"/>
            </a:p>
          </p:txBody>
        </p:sp>
        <p:sp>
          <p:nvSpPr>
            <p:cNvPr id="8" name="TextBox 8"/>
            <p:cNvSpPr txBox="1"/>
            <p:nvPr/>
          </p:nvSpPr>
          <p:spPr>
            <a:xfrm>
              <a:off x="74596" y="57150"/>
              <a:ext cx="646496" cy="67945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9" name="Freeform 9"/>
          <p:cNvSpPr/>
          <p:nvPr/>
        </p:nvSpPr>
        <p:spPr>
          <a:xfrm>
            <a:off x="8699673" y="4294212"/>
            <a:ext cx="888654" cy="1150361"/>
          </a:xfrm>
          <a:custGeom>
            <a:avLst/>
            <a:gdLst/>
            <a:ahLst/>
            <a:cxnLst/>
            <a:rect l="l" t="t" r="r" b="b"/>
            <a:pathLst>
              <a:path w="888654" h="1150361">
                <a:moveTo>
                  <a:pt x="0" y="0"/>
                </a:moveTo>
                <a:lnTo>
                  <a:pt x="888654" y="0"/>
                </a:lnTo>
                <a:lnTo>
                  <a:pt x="888654" y="1150361"/>
                </a:lnTo>
                <a:lnTo>
                  <a:pt x="0" y="11503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ES"/>
          </a:p>
        </p:txBody>
      </p:sp>
      <p:sp>
        <p:nvSpPr>
          <p:cNvPr id="10" name="Freeform 10"/>
          <p:cNvSpPr/>
          <p:nvPr/>
        </p:nvSpPr>
        <p:spPr>
          <a:xfrm>
            <a:off x="13857675" y="4294212"/>
            <a:ext cx="1010997" cy="1265723"/>
          </a:xfrm>
          <a:custGeom>
            <a:avLst/>
            <a:gdLst/>
            <a:ahLst/>
            <a:cxnLst/>
            <a:rect l="l" t="t" r="r" b="b"/>
            <a:pathLst>
              <a:path w="1010997" h="1265723">
                <a:moveTo>
                  <a:pt x="0" y="0"/>
                </a:moveTo>
                <a:lnTo>
                  <a:pt x="1010997" y="0"/>
                </a:lnTo>
                <a:lnTo>
                  <a:pt x="1010997" y="1265723"/>
                </a:lnTo>
                <a:lnTo>
                  <a:pt x="0" y="12657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ES"/>
          </a:p>
        </p:txBody>
      </p:sp>
      <p:sp>
        <p:nvSpPr>
          <p:cNvPr id="11" name="TextBox 11"/>
          <p:cNvSpPr txBox="1"/>
          <p:nvPr/>
        </p:nvSpPr>
        <p:spPr>
          <a:xfrm>
            <a:off x="1634798" y="5682011"/>
            <a:ext cx="4580058" cy="698500"/>
          </a:xfrm>
          <a:prstGeom prst="rect">
            <a:avLst/>
          </a:prstGeom>
        </p:spPr>
        <p:txBody>
          <a:bodyPr lIns="0" tIns="0" rIns="0" bIns="0" rtlCol="0" anchor="t">
            <a:spAutoFit/>
          </a:bodyPr>
          <a:lstStyle/>
          <a:p>
            <a:pPr marL="0" lvl="0" indent="0" algn="ctr">
              <a:lnSpc>
                <a:spcPts val="2749"/>
              </a:lnSpc>
            </a:pPr>
            <a:r>
              <a:rPr lang="en-US" sz="2499">
                <a:solidFill>
                  <a:srgbClr val="191919"/>
                </a:solidFill>
                <a:latin typeface="Open Sauce"/>
                <a:ea typeface="Open Sauce"/>
                <a:cs typeface="Open Sauce"/>
                <a:sym typeface="Open Sauce"/>
              </a:rPr>
              <a:t>Oportunidades de mercado únicas</a:t>
            </a:r>
          </a:p>
        </p:txBody>
      </p:sp>
      <p:sp>
        <p:nvSpPr>
          <p:cNvPr id="12" name="TextBox 12"/>
          <p:cNvSpPr txBox="1"/>
          <p:nvPr/>
        </p:nvSpPr>
        <p:spPr>
          <a:xfrm>
            <a:off x="6853971" y="5682011"/>
            <a:ext cx="4580058" cy="698500"/>
          </a:xfrm>
          <a:prstGeom prst="rect">
            <a:avLst/>
          </a:prstGeom>
        </p:spPr>
        <p:txBody>
          <a:bodyPr lIns="0" tIns="0" rIns="0" bIns="0" rtlCol="0" anchor="t">
            <a:spAutoFit/>
          </a:bodyPr>
          <a:lstStyle/>
          <a:p>
            <a:pPr marL="0" lvl="0" indent="0" algn="ctr">
              <a:lnSpc>
                <a:spcPts val="2749"/>
              </a:lnSpc>
              <a:spcBef>
                <a:spcPct val="0"/>
              </a:spcBef>
            </a:pPr>
            <a:r>
              <a:rPr lang="en-US" sz="2499">
                <a:solidFill>
                  <a:srgbClr val="191919"/>
                </a:solidFill>
                <a:latin typeface="Open Sauce"/>
                <a:ea typeface="Open Sauce"/>
                <a:cs typeface="Open Sauce"/>
                <a:sym typeface="Open Sauce"/>
              </a:rPr>
              <a:t>Presupuesto y planificación temporal eficientes</a:t>
            </a:r>
          </a:p>
        </p:txBody>
      </p:sp>
      <p:sp>
        <p:nvSpPr>
          <p:cNvPr id="13" name="TextBox 13"/>
          <p:cNvSpPr txBox="1"/>
          <p:nvPr/>
        </p:nvSpPr>
        <p:spPr>
          <a:xfrm>
            <a:off x="12073145" y="5682011"/>
            <a:ext cx="4580058" cy="355600"/>
          </a:xfrm>
          <a:prstGeom prst="rect">
            <a:avLst/>
          </a:prstGeom>
        </p:spPr>
        <p:txBody>
          <a:bodyPr lIns="0" tIns="0" rIns="0" bIns="0" rtlCol="0" anchor="t">
            <a:spAutoFit/>
          </a:bodyPr>
          <a:lstStyle/>
          <a:p>
            <a:pPr marL="0" lvl="0" indent="0" algn="ctr">
              <a:lnSpc>
                <a:spcPts val="2749"/>
              </a:lnSpc>
              <a:spcBef>
                <a:spcPct val="0"/>
              </a:spcBef>
            </a:pPr>
            <a:r>
              <a:rPr lang="en-US" sz="2499">
                <a:solidFill>
                  <a:srgbClr val="191919"/>
                </a:solidFill>
                <a:latin typeface="Open Sauce"/>
                <a:ea typeface="Open Sauce"/>
                <a:cs typeface="Open Sauce"/>
                <a:sym typeface="Open Sauce"/>
              </a:rPr>
              <a:t>Ventajas competitivas</a:t>
            </a:r>
          </a:p>
        </p:txBody>
      </p:sp>
      <p:sp>
        <p:nvSpPr>
          <p:cNvPr id="14" name="TextBox 14"/>
          <p:cNvSpPr txBox="1"/>
          <p:nvPr/>
        </p:nvSpPr>
        <p:spPr>
          <a:xfrm>
            <a:off x="1028700" y="904875"/>
            <a:ext cx="7761387" cy="1151255"/>
          </a:xfrm>
          <a:prstGeom prst="rect">
            <a:avLst/>
          </a:prstGeom>
        </p:spPr>
        <p:txBody>
          <a:bodyPr lIns="0" tIns="0" rIns="0" bIns="0" rtlCol="0" anchor="t">
            <a:spAutoFit/>
          </a:bodyPr>
          <a:lstStyle/>
          <a:p>
            <a:pPr marL="0" lvl="0" indent="0" algn="l">
              <a:lnSpc>
                <a:spcPts val="9520"/>
              </a:lnSpc>
              <a:spcBef>
                <a:spcPct val="0"/>
              </a:spcBef>
            </a:pPr>
            <a:r>
              <a:rPr lang="en-US" sz="6800" b="1" spc="-136">
                <a:solidFill>
                  <a:srgbClr val="191919"/>
                </a:solidFill>
                <a:latin typeface="Open Sauce Bold"/>
                <a:ea typeface="Open Sauce Bold"/>
                <a:cs typeface="Open Sauce Bold"/>
                <a:sym typeface="Open Sauce Bold"/>
              </a:rPr>
              <a:t>Conclusiones</a:t>
            </a:r>
          </a:p>
        </p:txBody>
      </p:sp>
      <p:sp>
        <p:nvSpPr>
          <p:cNvPr id="15" name="Freeform 15"/>
          <p:cNvSpPr/>
          <p:nvPr/>
        </p:nvSpPr>
        <p:spPr>
          <a:xfrm flipH="1">
            <a:off x="15407553" y="0"/>
            <a:ext cx="2838337" cy="2838337"/>
          </a:xfrm>
          <a:custGeom>
            <a:avLst/>
            <a:gdLst/>
            <a:ahLst/>
            <a:cxnLst/>
            <a:rect l="l" t="t" r="r" b="b"/>
            <a:pathLst>
              <a:path w="2838337" h="2838337">
                <a:moveTo>
                  <a:pt x="2838338" y="0"/>
                </a:moveTo>
                <a:lnTo>
                  <a:pt x="0" y="0"/>
                </a:lnTo>
                <a:lnTo>
                  <a:pt x="0" y="2838337"/>
                </a:lnTo>
                <a:lnTo>
                  <a:pt x="2838338" y="2838337"/>
                </a:lnTo>
                <a:lnTo>
                  <a:pt x="2838338"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s-E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2667930" y="262880"/>
            <a:ext cx="14591370" cy="8207646"/>
            <a:chOff x="0" y="0"/>
            <a:chExt cx="1444978" cy="812800"/>
          </a:xfrm>
        </p:grpSpPr>
        <p:sp>
          <p:nvSpPr>
            <p:cNvPr id="3" name="Freeform 3"/>
            <p:cNvSpPr/>
            <p:nvPr/>
          </p:nvSpPr>
          <p:spPr>
            <a:xfrm>
              <a:off x="0" y="0"/>
              <a:ext cx="1444978" cy="812800"/>
            </a:xfrm>
            <a:custGeom>
              <a:avLst/>
              <a:gdLst/>
              <a:ahLst/>
              <a:cxnLst/>
              <a:rect l="l" t="t" r="r" b="b"/>
              <a:pathLst>
                <a:path w="1444978" h="812800">
                  <a:moveTo>
                    <a:pt x="0" y="0"/>
                  </a:moveTo>
                  <a:lnTo>
                    <a:pt x="1444978" y="0"/>
                  </a:lnTo>
                  <a:lnTo>
                    <a:pt x="1444978" y="812800"/>
                  </a:lnTo>
                  <a:lnTo>
                    <a:pt x="0" y="812800"/>
                  </a:lnTo>
                  <a:close/>
                </a:path>
              </a:pathLst>
            </a:custGeom>
            <a:blipFill>
              <a:blip r:embed="rId2"/>
              <a:stretch>
                <a:fillRect t="-3176" b="-30156"/>
              </a:stretch>
            </a:blipFill>
          </p:spPr>
          <p:txBody>
            <a:bodyPr/>
            <a:lstStyle/>
            <a:p>
              <a:endParaRPr lang="es-ES"/>
            </a:p>
          </p:txBody>
        </p:sp>
      </p:grpSp>
      <p:grpSp>
        <p:nvGrpSpPr>
          <p:cNvPr id="4" name="Group 4"/>
          <p:cNvGrpSpPr/>
          <p:nvPr/>
        </p:nvGrpSpPr>
        <p:grpSpPr>
          <a:xfrm>
            <a:off x="0" y="3470122"/>
            <a:ext cx="3250121" cy="6995948"/>
            <a:chOff x="0" y="0"/>
            <a:chExt cx="5355113" cy="11526982"/>
          </a:xfrm>
        </p:grpSpPr>
        <p:sp>
          <p:nvSpPr>
            <p:cNvPr id="5" name="Freeform 5"/>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888888"/>
            </a:solidFill>
          </p:spPr>
          <p:txBody>
            <a:bodyPr/>
            <a:lstStyle/>
            <a:p>
              <a:endParaRPr lang="es-ES"/>
            </a:p>
          </p:txBody>
        </p:sp>
      </p:grpSp>
      <p:sp>
        <p:nvSpPr>
          <p:cNvPr id="6" name="TextBox 6"/>
          <p:cNvSpPr txBox="1"/>
          <p:nvPr/>
        </p:nvSpPr>
        <p:spPr>
          <a:xfrm>
            <a:off x="6024879" y="7243226"/>
            <a:ext cx="6238242" cy="545465"/>
          </a:xfrm>
          <a:prstGeom prst="rect">
            <a:avLst/>
          </a:prstGeom>
        </p:spPr>
        <p:txBody>
          <a:bodyPr lIns="0" tIns="0" rIns="0" bIns="0" rtlCol="0" anchor="t">
            <a:spAutoFit/>
          </a:bodyPr>
          <a:lstStyle/>
          <a:p>
            <a:pPr algn="ctr">
              <a:lnSpc>
                <a:spcPts val="4480"/>
              </a:lnSpc>
              <a:spcBef>
                <a:spcPct val="0"/>
              </a:spcBef>
            </a:pPr>
            <a:r>
              <a:rPr lang="en-US" sz="3500">
                <a:solidFill>
                  <a:srgbClr val="888888"/>
                </a:solidFill>
                <a:latin typeface="Open Sauce"/>
                <a:ea typeface="Open Sauce"/>
                <a:cs typeface="Open Sauce"/>
                <a:sym typeface="Open Sauce"/>
              </a:rPr>
              <a:t>Gracias por su atención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407</Words>
  <Application>Microsoft Office PowerPoint</Application>
  <PresentationFormat>Personalizado</PresentationFormat>
  <Paragraphs>108</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Open Sauce Bold</vt:lpstr>
      <vt:lpstr>Calibri</vt:lpstr>
      <vt:lpstr>Arial</vt:lpstr>
      <vt:lpstr>Open Sauce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DRÖNER</dc:title>
  <dc:creator>Quique Such</dc:creator>
  <cp:lastModifiedBy>Enrique Such Andreu</cp:lastModifiedBy>
  <cp:revision>2</cp:revision>
  <dcterms:created xsi:type="dcterms:W3CDTF">2006-08-16T00:00:00Z</dcterms:created>
  <dcterms:modified xsi:type="dcterms:W3CDTF">2025-01-08T20:49:00Z</dcterms:modified>
  <dc:identifier>DAGbiBe-tnQ</dc:identifier>
</cp:coreProperties>
</file>